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10287000" cx="18288000"/>
  <p:notesSz cx="10287000" cy="18288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Open calm and confident. PRAHARI is India's sovereign cyber-resilience platform. The promise: the breach that never happened - we prevent, not just detect.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Reframe the problem: detection latency is the failure. CERT-In handled 1.59M+ incidents; AIIMS was down ~2 weeks; industry dwell time is ~200 days. By the time a signature exists, it is too late - so detect behaviour, not signatures.</a:t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proof at a glance. Four numbers on the 21-day scenario with frozen thresholds: detect in 1.66 days, 100% recall at 1% FPR, 92.3% ATT&amp;CK accuracy, sub-second auto-containment.</a:t>
            </a:r>
            <a:endParaRPr/>
          </a:p>
        </p:txBody>
      </p:sp>
      <p:sp>
        <p:nvSpPr>
          <p:cNvPr id="51" name="Google Shape;5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One closed, auditable loop - six stages from ingest to tamper-evident audit. Unsupervised detection, graph fusion, ATT&amp;CK attribution, human-gated SOAR, hash-chained ledger. Runs on Docker Compose.</a:t>
            </a:r>
            <a:endParaRPr/>
          </a:p>
        </p:txBody>
      </p:sp>
      <p:sp>
        <p:nvSpPr>
          <p:cNvPr id="75" name="Google Shape;7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Four choices that set it apart: graph anomaly-lift fusion, agentic attribution with integrity rails, the AI cannot open a gate, and a tamper-evident ledger with air-gap mode.</a:t>
            </a:r>
            <a:endParaRPr/>
          </a:p>
        </p:txBody>
      </p:sp>
      <p:sp>
        <p:nvSpPr>
          <p:cNvPr id="128" name="Google Shape;12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story: a 21-day nation-state intrusion against a State Examinations authority. Phishing foothold, a 2am valid credential, memory dump, lateral movement to the domain controller and the exam database, staging, then planned exfiltration. Each step is individually ignorable - the graph fuses them.</a:t>
            </a:r>
            <a:endParaRPr/>
          </a:p>
        </p:txBody>
      </p:sp>
      <p:sp>
        <p:nvSpPr>
          <p:cNvPr id="160" name="Google Shape;16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Detection and response. Confirmed on day 1.66 - seventeen days before the scheduled theft, not 200 days. C2 severed in under a second. Six of eight playbook actions auto-execute; the two crown-jewel actions wait for a human. Counterfactual: the exfiltration never happens - the breach is prevented.</a:t>
            </a:r>
            <a:endParaRPr/>
          </a:p>
        </p:txBody>
      </p:sp>
      <p:sp>
        <p:nvSpPr>
          <p:cNvPr id="207" name="Google Shape;207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console. One SOC surface takes you from verdict to replay clock to provenance graph to the ATT&amp;CK matrix to the SOAR queue to the tamper-evident ledger. Insert the live console screenshots here.</a:t>
            </a:r>
            <a:endParaRPr/>
          </a:p>
        </p:txBody>
      </p:sp>
      <p:sp>
        <p:nvSpPr>
          <p:cNvPr id="248" name="Google Shape;24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Results, in the honest order. External held-out benchmark first at 0.845 macro ROC-AUC. Then frozen-threshold transfer to an unseen insider at 0.9987 and 100% recall. Then the in-domain 21-day APT at 0.9988 with 13 of 13 caught. Near-perfect in-domain reflects a clean scenario - that is exactly why external and frozen numbers lead.</a:t>
            </a:r>
            <a:endParaRPr/>
          </a:p>
        </p:txBody>
      </p:sp>
      <p:sp>
        <p:nvSpPr>
          <p:cNvPr id="314" name="Google Shape;31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1" name="Google Shape;3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Trust and scale. A verified 10-entry tamper-evident hash chain, a proven zero-egress air-gap mode, and throughput around 54,000 events per second end-to-end on a single core. Ground truth is never a model input: the API strips gt fields and 0 of 8 endpoints leak.</a:t>
            </a:r>
            <a:endParaRPr/>
          </a:p>
        </p:txBody>
      </p:sp>
      <p:sp>
        <p:nvSpPr>
          <p:cNvPr id="352" name="Google Shape;3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2" name="Google Shape;38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Honest limitations. Attribution generalises less well than detection. Off-hours evasion lowers recall, though detection ROC still holds around 0.92. OT coverage is improving. We report what didn't move, too.</a:t>
            </a:r>
            <a:endParaRPr/>
          </a:p>
        </p:txBody>
      </p:sp>
      <p:sp>
        <p:nvSpPr>
          <p:cNvPr id="383" name="Google Shape;38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9" name="Google Shape;40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Close. Detection in hours, not months - behavioural detection, graph fusion, auditable autonomy. The repo is public. Praharí: the watch never ends.</a:t>
            </a:r>
            <a:endParaRPr/>
          </a:p>
        </p:txBody>
      </p:sp>
      <p:sp>
        <p:nvSpPr>
          <p:cNvPr id="410" name="Google Shape;41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ithub.com/Kartik-99999/prahari" TargetMode="External"/><Relationship Id="rId4" Type="http://schemas.openxmlformats.org/officeDocument/2006/relationships/hyperlink" Target="https://github.com/Kartik-99999/prahari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E3E1F4"/>
              </a:gs>
              <a:gs pos="42000">
                <a:srgbClr val="EDECF6"/>
              </a:gs>
              <a:gs pos="74000">
                <a:srgbClr val="F8F8FA"/>
              </a:gs>
              <a:gs pos="100000">
                <a:srgbClr val="F8F8FA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8450442" y="2963168"/>
            <a:ext cx="1387041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2250"/>
              <a:buFont typeface="Inter"/>
              <a:buNone/>
            </a:pPr>
            <a:r>
              <a:rPr b="1" i="0" lang="en-US" sz="225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PRAHARÍ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5774914" y="3687544"/>
            <a:ext cx="6738097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1500"/>
              <a:buFont typeface="Inter"/>
              <a:buNone/>
            </a:pPr>
            <a:r>
              <a:rPr b="1" i="0" lang="en-US" sz="1500" u="none" cap="none" strike="noStrike">
                <a:solidFill>
                  <a:srgbClr val="4F46B8"/>
                </a:solidFill>
                <a:latin typeface="Inter"/>
                <a:ea typeface="Inter"/>
                <a:cs typeface="Inter"/>
                <a:sym typeface="Inter"/>
              </a:rPr>
              <a:t>INDIA’S SOVEREIGN CYBER-RESILIENCE PLATFORM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826044" y="4168556"/>
            <a:ext cx="8635913" cy="209847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75902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7800"/>
              <a:buFont typeface="Source Serif 4"/>
              <a:buNone/>
            </a:pPr>
            <a:r>
              <a:rPr b="0" i="0" lang="en-US" sz="7800" u="none" cap="none" strike="noStrike">
                <a:solidFill>
                  <a:srgbClr val="16161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The breach that </a:t>
            </a:r>
            <a:r>
              <a:rPr b="0" i="0" lang="en-US" sz="7800" u="none" cap="none" strike="noStrike">
                <a:solidFill>
                  <a:srgbClr val="059669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never happened.</a:t>
            </a:r>
            <a:endParaRPr b="0" i="0" sz="7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5467576" y="6555103"/>
            <a:ext cx="7352774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24615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2025"/>
              <a:buFont typeface="Inter"/>
              <a:buNone/>
            </a:pPr>
            <a:r>
              <a:rPr b="0" i="0" lang="en-US" sz="202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Behavioural cyber-resilience for critical national infrastructure.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6837172" y="8532822"/>
            <a:ext cx="4613582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2250"/>
              <a:buFont typeface="Noto Serif Devanagari"/>
              <a:buNone/>
            </a:pPr>
            <a:r>
              <a:rPr b="0" i="0" lang="en-US" sz="2250" u="none" cap="none" strike="noStrike">
                <a:solidFill>
                  <a:srgbClr val="16161D"/>
                </a:solidFill>
                <a:latin typeface="Noto Serif Devanagari"/>
                <a:ea typeface="Noto Serif Devanagari"/>
                <a:cs typeface="Noto Serif Devanagari"/>
                <a:sym typeface="Noto Serif Devanagari"/>
              </a:rPr>
              <a:t>प्रहरी </a:t>
            </a:r>
            <a:r>
              <a:rPr b="0" i="0" lang="en-US" sz="1800" u="none" cap="none" strike="noStrike">
                <a:solidFill>
                  <a:srgbClr val="4B5563"/>
                </a:solidFill>
                <a:latin typeface="Noto Serif Devanagari"/>
                <a:ea typeface="Noto Serif Devanagari"/>
                <a:cs typeface="Noto Serif Devanagari"/>
                <a:sym typeface="Noto Serif Devanagari"/>
              </a:rPr>
              <a:t>— the sentinel who keeps the watch.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8877300" y="9151947"/>
            <a:ext cx="533400" cy="9525"/>
          </a:xfrm>
          <a:prstGeom prst="rect">
            <a:avLst/>
          </a:prstGeom>
          <a:solidFill>
            <a:srgbClr val="D8D8E0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5246619" y="9332922"/>
            <a:ext cx="7794687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425"/>
              <a:buFont typeface="Inter"/>
              <a:buNone/>
            </a:pPr>
            <a:r>
              <a:rPr b="0" i="0" lang="en-US" sz="1425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Kartik Bhardwaj · Harshita · Raghav Sharma | Hackathon Problem Statement #7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8FA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685800" y="457200"/>
            <a:ext cx="16916400" cy="7048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028700" y="659606"/>
            <a:ext cx="1168971" cy="3381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950"/>
              <a:buFont typeface="Inter"/>
              <a:buNone/>
            </a:pPr>
            <a:r>
              <a:rPr b="1" i="0" lang="en-US" sz="195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PRAHARÍ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2331021" y="685800"/>
            <a:ext cx="9525" cy="247650"/>
          </a:xfrm>
          <a:prstGeom prst="rect">
            <a:avLst/>
          </a:prstGeom>
          <a:solidFill>
            <a:srgbClr val="E7E7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2550096" y="723900"/>
            <a:ext cx="301973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25"/>
              <a:buFont typeface="Inter"/>
              <a:buNone/>
            </a:pPr>
            <a:r>
              <a:rPr b="1" i="0" lang="en-US" sz="1125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SOVEREIGN CYBER-RESILIENCE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16539195" y="695325"/>
            <a:ext cx="79630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/ 12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914400" y="3816251"/>
            <a:ext cx="7634250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500"/>
              <a:buFont typeface="Inter"/>
              <a:buNone/>
            </a:pPr>
            <a:r>
              <a:rPr b="1" i="0" lang="en-US" sz="15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THE PROBLEM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914400" y="4202013"/>
            <a:ext cx="7148434" cy="13372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235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4650"/>
              <a:buFont typeface="Source Serif 4"/>
              <a:buNone/>
            </a:pPr>
            <a:r>
              <a:rPr b="0" i="0" lang="en-US" sz="4650" u="none" cap="none" strike="noStrike">
                <a:solidFill>
                  <a:srgbClr val="16161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Detection is the failure, not defence.</a:t>
            </a:r>
            <a:endParaRPr b="0" i="0" sz="4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914400" y="5786884"/>
            <a:ext cx="5050390" cy="7695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169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800"/>
              <a:buFont typeface="Inter"/>
              <a:buNone/>
            </a:pPr>
            <a:r>
              <a:rPr b="0" i="0" lang="en-US" sz="18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By the time a signature exists, the attack has already succeeded.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914400" y="6727924"/>
            <a:ext cx="611002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810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950"/>
              <a:buFont typeface="Inter"/>
              <a:buNone/>
            </a:pPr>
            <a:r>
              <a:rPr b="1" i="0" lang="en-US" sz="195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So we detect behaviour — not signatures.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8540428" y="3391377"/>
            <a:ext cx="8833172" cy="1238250"/>
          </a:xfrm>
          <a:prstGeom prst="roundRect">
            <a:avLst>
              <a:gd fmla="val 18462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8883328" y="3677127"/>
            <a:ext cx="2295145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2917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5250"/>
              <a:buFont typeface="Source Serif 4"/>
              <a:buNone/>
            </a:pPr>
            <a:r>
              <a:rPr b="0" i="0" lang="en-US" sz="5250" u="none" cap="none" strike="noStrike">
                <a:solidFill>
                  <a:srgbClr val="16161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1.59M</a:t>
            </a:r>
            <a:r>
              <a:rPr b="0" i="0" lang="en-US" sz="3000" u="none" cap="none" strike="noStrike">
                <a:solidFill>
                  <a:srgbClr val="9CA3AF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+</a:t>
            </a:r>
            <a:endParaRPr b="0" i="0" sz="5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11274623" y="3858548"/>
            <a:ext cx="5620442" cy="34193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8148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650"/>
              <a:buFont typeface="Inter"/>
              <a:buNone/>
            </a:pPr>
            <a:r>
              <a:rPr b="0" i="0" lang="en-US" sz="16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cyber incidents handled by </a:t>
            </a:r>
            <a:r>
              <a:rPr b="1" i="0" lang="en-US" sz="165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CERT-In </a:t>
            </a:r>
            <a:r>
              <a:rPr b="0" i="0" lang="en-US" sz="16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in a single year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8540428" y="4841499"/>
            <a:ext cx="8833172" cy="1238250"/>
          </a:xfrm>
          <a:prstGeom prst="roundRect">
            <a:avLst>
              <a:gd fmla="val 18462" name="adj"/>
            </a:avLst>
          </a:prstGeom>
          <a:solidFill>
            <a:srgbClr val="FFFFFF">
              <a:alpha val="98824"/>
            </a:srgbClr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8883328" y="5127249"/>
            <a:ext cx="2095500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2917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5250"/>
              <a:buFont typeface="Source Serif 4"/>
              <a:buNone/>
            </a:pPr>
            <a:r>
              <a:rPr b="0" i="0" lang="en-US" sz="5250" u="none" cap="none" strike="noStrike">
                <a:solidFill>
                  <a:srgbClr val="16161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~2</a:t>
            </a:r>
            <a:r>
              <a:rPr b="0" i="0" lang="en-US" sz="2550" u="none" cap="none" strike="noStrike">
                <a:solidFill>
                  <a:srgbClr val="9CA3AF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wks</a:t>
            </a:r>
            <a:endParaRPr b="0" i="0" sz="5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11093128" y="5156791"/>
            <a:ext cx="6115700" cy="6457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8148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AIIMS Delhi </a:t>
            </a:r>
            <a:r>
              <a:rPr b="0" i="0" lang="en-US" sz="16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offline after ransomware — while </a:t>
            </a:r>
            <a:r>
              <a:rPr b="1" i="0" lang="en-US" sz="165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CBSE </a:t>
            </a:r>
            <a:r>
              <a:rPr b="0" i="0" lang="en-US" sz="16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exam records were breached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8540428" y="6294453"/>
            <a:ext cx="8833172" cy="1238250"/>
          </a:xfrm>
          <a:prstGeom prst="roundRect">
            <a:avLst>
              <a:gd fmla="val 18462" name="adj"/>
            </a:avLst>
          </a:prstGeom>
          <a:solidFill>
            <a:srgbClr val="FFFFFF">
              <a:alpha val="96078"/>
            </a:srgbClr>
          </a:solidFill>
          <a:ln>
            <a:noFill/>
          </a:ln>
          <a:effectLst>
            <a:outerShdw blurRad="28575" rotWithShape="0" algn="bl" dir="5400000" dist="9525">
              <a:srgbClr val="111827">
                <a:alpha val="470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8883328" y="6580203"/>
            <a:ext cx="2390998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2917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5250"/>
              <a:buFont typeface="Source Serif 4"/>
              <a:buNone/>
            </a:pPr>
            <a:r>
              <a:rPr b="0" i="0" lang="en-US" sz="5250" u="none" cap="none" strike="noStrike">
                <a:solidFill>
                  <a:srgbClr val="16161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≈200</a:t>
            </a:r>
            <a:r>
              <a:rPr b="0" i="0" lang="en-US" sz="2250" u="none" cap="none" strike="noStrike">
                <a:solidFill>
                  <a:srgbClr val="9CA3AF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days</a:t>
            </a:r>
            <a:endParaRPr b="0" i="0" sz="5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11361762" y="6628274"/>
            <a:ext cx="6137523" cy="34193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8148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650"/>
              <a:buFont typeface="Inter"/>
              <a:buNone/>
            </a:pPr>
            <a:r>
              <a:rPr b="0" i="0" lang="en-US" sz="16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industry mean </a:t>
            </a:r>
            <a:r>
              <a:rPr b="1" i="0" lang="en-US" sz="165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dwell time </a:t>
            </a:r>
            <a:r>
              <a:rPr b="0" i="0" lang="en-US" sz="16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before an intrusion is detected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11361762" y="7008307"/>
            <a:ext cx="613752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25"/>
              <a:buFont typeface="JetBrains Mono"/>
              <a:buNone/>
            </a:pPr>
            <a:r>
              <a:rPr b="0" i="0" lang="en-US" sz="112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source: Mandiant M-Trends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F8F8FA"/>
              </a:gs>
              <a:gs pos="3000">
                <a:srgbClr val="F8F8FA"/>
              </a:gs>
              <a:gs pos="40000">
                <a:srgbClr val="E88A3F"/>
              </a:gs>
              <a:gs pos="70000">
                <a:srgbClr val="ECA862"/>
              </a:gs>
              <a:gs pos="100000">
                <a:srgbClr val="F8F8FA"/>
              </a:gs>
            </a:gsLst>
            <a:lin ang="54000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5"/>
          <p:cNvSpPr/>
          <p:nvPr/>
        </p:nvSpPr>
        <p:spPr>
          <a:xfrm>
            <a:off x="6325061" y="3479453"/>
            <a:ext cx="5637877" cy="271463"/>
          </a:xfrm>
          <a:prstGeom prst="rect">
            <a:avLst/>
          </a:prstGeom>
          <a:noFill/>
          <a:ln>
            <a:noFill/>
          </a:ln>
          <a:effectLst>
            <a:outerShdw blurRad="95250" rotWithShape="0" algn="bl" dir="5400000" dist="9525">
              <a:srgbClr val="96460F">
                <a:alpha val="23529"/>
              </a:srgbClr>
            </a:outerShdw>
          </a:effectLst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DF9"/>
              </a:buClr>
              <a:buSzPts val="1500"/>
              <a:buFont typeface="Inter"/>
              <a:buNone/>
            </a:pPr>
            <a:r>
              <a:rPr b="1" i="0" lang="en-US" sz="1500" u="none" cap="none" strike="noStrike">
                <a:solidFill>
                  <a:srgbClr val="FFFDF9"/>
                </a:solidFill>
                <a:latin typeface="Inter"/>
                <a:ea typeface="Inter"/>
                <a:cs typeface="Inter"/>
                <a:sym typeface="Inter"/>
              </a:rPr>
              <a:t>THE PROOF — MEASURED, NOT CLAIMED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1949883" y="4113342"/>
            <a:ext cx="2612581" cy="1762125"/>
          </a:xfrm>
          <a:prstGeom prst="rect">
            <a:avLst/>
          </a:prstGeom>
          <a:noFill/>
          <a:ln>
            <a:noFill/>
          </a:ln>
          <a:effectLst>
            <a:outerShdw blurRad="152400" rotWithShape="0" algn="bl" dir="5400000" dist="19050">
              <a:srgbClr val="96460F">
                <a:alpha val="21961"/>
              </a:srgbClr>
            </a:outerShdw>
          </a:effectLst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69282"/>
              </a:lnSpc>
              <a:spcBef>
                <a:spcPts val="0"/>
              </a:spcBef>
              <a:spcAft>
                <a:spcPts val="0"/>
              </a:spcAft>
              <a:buClr>
                <a:srgbClr val="FFFDF9"/>
              </a:buClr>
              <a:buSzPts val="9900"/>
              <a:buFont typeface="Source Serif 4"/>
              <a:buNone/>
            </a:pPr>
            <a:r>
              <a:rPr b="0" i="0" lang="en-US" sz="9900" u="none" cap="none" strike="noStrike">
                <a:solidFill>
                  <a:srgbClr val="FFFDF9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1.66</a:t>
            </a:r>
            <a:endParaRPr b="0" i="0" sz="9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4405610" y="4965829"/>
            <a:ext cx="1129085" cy="638175"/>
          </a:xfrm>
          <a:prstGeom prst="rect">
            <a:avLst/>
          </a:prstGeom>
          <a:noFill/>
          <a:ln>
            <a:noFill/>
          </a:ln>
          <a:effectLst>
            <a:outerShdw blurRad="152400" rotWithShape="0" algn="bl" dir="5400000" dist="19050">
              <a:srgbClr val="96460F">
                <a:alpha val="21961"/>
              </a:srgbClr>
            </a:outerShdw>
          </a:effectLst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69365"/>
              </a:lnSpc>
              <a:spcBef>
                <a:spcPts val="0"/>
              </a:spcBef>
              <a:spcAft>
                <a:spcPts val="0"/>
              </a:spcAft>
              <a:buClr>
                <a:srgbClr val="FFFDF9"/>
              </a:buClr>
              <a:buSzPts val="3450"/>
              <a:buFont typeface="Source Serif 4"/>
              <a:buNone/>
            </a:pPr>
            <a:r>
              <a:rPr b="0" i="0" lang="en-US" sz="3450" u="none" cap="none" strike="noStrike">
                <a:solidFill>
                  <a:srgbClr val="FFFDF9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days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2695575" y="5726862"/>
            <a:ext cx="217408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DF9"/>
              </a:buClr>
              <a:buSzPts val="1650"/>
              <a:buFont typeface="Inter"/>
              <a:buNone/>
            </a:pPr>
            <a:r>
              <a:rPr b="0" i="0" lang="en-US" sz="1650" u="none" cap="none" strike="noStrike">
                <a:solidFill>
                  <a:srgbClr val="FFFDF9"/>
                </a:solidFill>
                <a:latin typeface="Inter"/>
                <a:ea typeface="Inter"/>
                <a:cs typeface="Inter"/>
                <a:sym typeface="Inter"/>
              </a:rPr>
              <a:t>Mean time to detect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5564981" y="4467627"/>
            <a:ext cx="9525" cy="1428750"/>
          </a:xfrm>
          <a:prstGeom prst="rect">
            <a:avLst/>
          </a:prstGeom>
          <a:solidFill>
            <a:srgbClr val="FFFFFF">
              <a:alpha val="4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6010818" y="4113342"/>
            <a:ext cx="2194873" cy="1762125"/>
          </a:xfrm>
          <a:prstGeom prst="rect">
            <a:avLst/>
          </a:prstGeom>
          <a:noFill/>
          <a:ln>
            <a:noFill/>
          </a:ln>
          <a:effectLst>
            <a:outerShdw blurRad="152400" rotWithShape="0" algn="bl" dir="5400000" dist="19050">
              <a:srgbClr val="96460F">
                <a:alpha val="21961"/>
              </a:srgbClr>
            </a:outerShdw>
          </a:effectLst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69282"/>
              </a:lnSpc>
              <a:spcBef>
                <a:spcPts val="0"/>
              </a:spcBef>
              <a:spcAft>
                <a:spcPts val="0"/>
              </a:spcAft>
              <a:buClr>
                <a:srgbClr val="FFFDF9"/>
              </a:buClr>
              <a:buSzPts val="9900"/>
              <a:buFont typeface="Source Serif 4"/>
              <a:buNone/>
            </a:pPr>
            <a:r>
              <a:rPr b="0" i="0" lang="en-US" sz="9900" u="none" cap="none" strike="noStrike">
                <a:solidFill>
                  <a:srgbClr val="FFFDF9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100</a:t>
            </a:r>
            <a:endParaRPr b="0" i="0" sz="9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8067824" y="4865817"/>
            <a:ext cx="573360" cy="771525"/>
          </a:xfrm>
          <a:prstGeom prst="rect">
            <a:avLst/>
          </a:prstGeom>
          <a:noFill/>
          <a:ln>
            <a:noFill/>
          </a:ln>
          <a:effectLst>
            <a:outerShdw blurRad="152400" rotWithShape="0" algn="bl" dir="5400000" dist="19050">
              <a:srgbClr val="96460F">
                <a:alpha val="21961"/>
              </a:srgbClr>
            </a:outerShdw>
          </a:effectLst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69091"/>
              </a:lnSpc>
              <a:spcBef>
                <a:spcPts val="0"/>
              </a:spcBef>
              <a:spcAft>
                <a:spcPts val="0"/>
              </a:spcAft>
              <a:buClr>
                <a:srgbClr val="FFFDF9"/>
              </a:buClr>
              <a:buSzPts val="4200"/>
              <a:buFont typeface="Source Serif 4"/>
              <a:buNone/>
            </a:pPr>
            <a:r>
              <a:rPr b="0" i="0" lang="en-US" sz="4200" u="none" cap="none" strike="noStrike">
                <a:solidFill>
                  <a:srgbClr val="FFFDF9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%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6445248" y="5726862"/>
            <a:ext cx="1823249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DF9"/>
              </a:buClr>
              <a:buSzPts val="1650"/>
              <a:buFont typeface="Inter"/>
              <a:buNone/>
            </a:pPr>
            <a:r>
              <a:rPr b="0" i="0" lang="en-US" sz="1650" u="none" cap="none" strike="noStrike">
                <a:solidFill>
                  <a:srgbClr val="FFFDF9"/>
                </a:solidFill>
                <a:latin typeface="Inter"/>
                <a:ea typeface="Inter"/>
                <a:cs typeface="Inter"/>
                <a:sym typeface="Inter"/>
              </a:rPr>
              <a:t>Recall @ 1% FPR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9139238" y="4467627"/>
            <a:ext cx="9525" cy="1428750"/>
          </a:xfrm>
          <a:prstGeom prst="rect">
            <a:avLst/>
          </a:prstGeom>
          <a:solidFill>
            <a:srgbClr val="FFFFFF">
              <a:alpha val="4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5"/>
          <p:cNvSpPr/>
          <p:nvPr/>
        </p:nvSpPr>
        <p:spPr>
          <a:xfrm>
            <a:off x="9376257" y="4113342"/>
            <a:ext cx="2612581" cy="1762125"/>
          </a:xfrm>
          <a:prstGeom prst="rect">
            <a:avLst/>
          </a:prstGeom>
          <a:noFill/>
          <a:ln>
            <a:noFill/>
          </a:ln>
          <a:effectLst>
            <a:outerShdw blurRad="152400" rotWithShape="0" algn="bl" dir="5400000" dist="19050">
              <a:srgbClr val="96460F">
                <a:alpha val="21961"/>
              </a:srgbClr>
            </a:outerShdw>
          </a:effectLst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69282"/>
              </a:lnSpc>
              <a:spcBef>
                <a:spcPts val="0"/>
              </a:spcBef>
              <a:spcAft>
                <a:spcPts val="0"/>
              </a:spcAft>
              <a:buClr>
                <a:srgbClr val="FFFDF9"/>
              </a:buClr>
              <a:buSzPts val="9900"/>
              <a:buFont typeface="Source Serif 4"/>
              <a:buNone/>
            </a:pPr>
            <a:r>
              <a:rPr b="0" i="0" lang="en-US" sz="9900" u="none" cap="none" strike="noStrike">
                <a:solidFill>
                  <a:srgbClr val="FFFDF9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92.3</a:t>
            </a:r>
            <a:endParaRPr b="0" i="0" sz="9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11831985" y="4865817"/>
            <a:ext cx="573360" cy="771525"/>
          </a:xfrm>
          <a:prstGeom prst="rect">
            <a:avLst/>
          </a:prstGeom>
          <a:noFill/>
          <a:ln>
            <a:noFill/>
          </a:ln>
          <a:effectLst>
            <a:outerShdw blurRad="152400" rotWithShape="0" algn="bl" dir="5400000" dist="19050">
              <a:srgbClr val="96460F">
                <a:alpha val="21961"/>
              </a:srgbClr>
            </a:outerShdw>
          </a:effectLst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69091"/>
              </a:lnSpc>
              <a:spcBef>
                <a:spcPts val="0"/>
              </a:spcBef>
              <a:spcAft>
                <a:spcPts val="0"/>
              </a:spcAft>
              <a:buClr>
                <a:srgbClr val="FFFDF9"/>
              </a:buClr>
              <a:buSzPts val="4200"/>
              <a:buFont typeface="Source Serif 4"/>
              <a:buNone/>
            </a:pPr>
            <a:r>
              <a:rPr b="0" i="0" lang="en-US" sz="4200" u="none" cap="none" strike="noStrike">
                <a:solidFill>
                  <a:srgbClr val="FFFDF9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%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9375059" y="5726862"/>
            <a:ext cx="3112063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DF9"/>
              </a:buClr>
              <a:buSzPts val="1650"/>
              <a:buFont typeface="Inter"/>
              <a:buNone/>
            </a:pPr>
            <a:r>
              <a:rPr b="0" i="0" lang="en-US" sz="1650" u="none" cap="none" strike="noStrike">
                <a:solidFill>
                  <a:srgbClr val="FFFDF9"/>
                </a:solidFill>
                <a:latin typeface="Inter"/>
                <a:ea typeface="Inter"/>
                <a:cs typeface="Inter"/>
                <a:sym typeface="Inter"/>
              </a:rPr>
              <a:t>ATT&amp;CK technique accuracy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12713494" y="4467627"/>
            <a:ext cx="9525" cy="1428750"/>
          </a:xfrm>
          <a:prstGeom prst="rect">
            <a:avLst/>
          </a:prstGeom>
          <a:solidFill>
            <a:srgbClr val="FFFFFF">
              <a:alpha val="4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13723665" y="4450958"/>
            <a:ext cx="523801" cy="1185863"/>
          </a:xfrm>
          <a:prstGeom prst="rect">
            <a:avLst/>
          </a:prstGeom>
          <a:noFill/>
          <a:ln>
            <a:noFill/>
          </a:ln>
          <a:effectLst>
            <a:outerShdw blurRad="152400" rotWithShape="0" algn="bl" dir="5400000" dist="19050">
              <a:srgbClr val="96460F">
                <a:alpha val="21961"/>
              </a:srgbClr>
            </a:outerShdw>
          </a:effectLst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69378"/>
              </a:lnSpc>
              <a:spcBef>
                <a:spcPts val="0"/>
              </a:spcBef>
              <a:spcAft>
                <a:spcPts val="0"/>
              </a:spcAft>
              <a:buClr>
                <a:srgbClr val="FFFDF9"/>
              </a:buClr>
              <a:buSzPts val="6600"/>
              <a:buFont typeface="Source Serif 4"/>
              <a:buNone/>
            </a:pPr>
            <a:r>
              <a:rPr b="0" i="0" lang="en-US" sz="6600" u="none" cap="none" strike="noStrike">
                <a:solidFill>
                  <a:srgbClr val="FFFDF9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&lt;</a:t>
            </a:r>
            <a:endParaRPr b="0" i="0" sz="6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14171265" y="4113342"/>
            <a:ext cx="741313" cy="1762125"/>
          </a:xfrm>
          <a:prstGeom prst="rect">
            <a:avLst/>
          </a:prstGeom>
          <a:noFill/>
          <a:ln>
            <a:noFill/>
          </a:ln>
          <a:effectLst>
            <a:outerShdw blurRad="152400" rotWithShape="0" algn="bl" dir="5400000" dist="19050">
              <a:srgbClr val="96460F">
                <a:alpha val="21961"/>
              </a:srgbClr>
            </a:outerShdw>
          </a:effectLst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69282"/>
              </a:lnSpc>
              <a:spcBef>
                <a:spcPts val="0"/>
              </a:spcBef>
              <a:spcAft>
                <a:spcPts val="0"/>
              </a:spcAft>
              <a:buClr>
                <a:srgbClr val="FFFDF9"/>
              </a:buClr>
              <a:buSzPts val="9900"/>
              <a:buFont typeface="Source Serif 4"/>
              <a:buNone/>
            </a:pPr>
            <a:r>
              <a:rPr b="0" i="0" lang="en-US" sz="9900" u="none" cap="none" strike="noStrike">
                <a:solidFill>
                  <a:srgbClr val="FFFDF9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1</a:t>
            </a:r>
            <a:endParaRPr b="0" i="0" sz="9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14836378" y="4865817"/>
            <a:ext cx="450652" cy="771525"/>
          </a:xfrm>
          <a:prstGeom prst="rect">
            <a:avLst/>
          </a:prstGeom>
          <a:noFill/>
          <a:ln>
            <a:noFill/>
          </a:ln>
          <a:effectLst>
            <a:outerShdw blurRad="152400" rotWithShape="0" algn="bl" dir="5400000" dist="19050">
              <a:srgbClr val="96460F">
                <a:alpha val="21961"/>
              </a:srgbClr>
            </a:outerShdw>
          </a:effectLst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69091"/>
              </a:lnSpc>
              <a:spcBef>
                <a:spcPts val="0"/>
              </a:spcBef>
              <a:spcAft>
                <a:spcPts val="0"/>
              </a:spcAft>
              <a:buClr>
                <a:srgbClr val="FFFDF9"/>
              </a:buClr>
              <a:buSzPts val="4200"/>
              <a:buFont typeface="Source Serif 4"/>
              <a:buNone/>
            </a:pPr>
            <a:r>
              <a:rPr b="0" i="0" lang="en-US" sz="4200" u="none" cap="none" strike="noStrike">
                <a:solidFill>
                  <a:srgbClr val="FFFDF9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s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13523037" y="5726862"/>
            <a:ext cx="1964695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DF9"/>
              </a:buClr>
              <a:buSzPts val="1650"/>
              <a:buFont typeface="Inter"/>
              <a:buNone/>
            </a:pPr>
            <a:r>
              <a:rPr b="0" i="0" lang="en-US" sz="1650" u="none" cap="none" strike="noStrike">
                <a:solidFill>
                  <a:srgbClr val="FFFDF9"/>
                </a:solidFill>
                <a:latin typeface="Inter"/>
                <a:ea typeface="Inter"/>
                <a:cs typeface="Inter"/>
                <a:sym typeface="Inter"/>
              </a:rPr>
              <a:t>Auto-containment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5554965" y="6593160"/>
            <a:ext cx="7178070" cy="2524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DF9"/>
              </a:buClr>
              <a:buSzPts val="1275"/>
              <a:buFont typeface="JetBrains Mono"/>
              <a:buNone/>
            </a:pPr>
            <a:r>
              <a:rPr b="0" i="0" lang="en-US" sz="1275" u="none" cap="none" strike="noStrike">
                <a:solidFill>
                  <a:srgbClr val="FFFDF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measured on the 21-day APT scenario · detection thresholds frozen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8FA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/>
          <p:nvPr/>
        </p:nvSpPr>
        <p:spPr>
          <a:xfrm>
            <a:off x="685800" y="457200"/>
            <a:ext cx="16916400" cy="7048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6"/>
          <p:cNvSpPr/>
          <p:nvPr/>
        </p:nvSpPr>
        <p:spPr>
          <a:xfrm>
            <a:off x="1028700" y="659606"/>
            <a:ext cx="1168971" cy="3381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950"/>
              <a:buFont typeface="Inter"/>
              <a:buNone/>
            </a:pPr>
            <a:r>
              <a:rPr b="1" i="0" lang="en-US" sz="195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PRAHARÍ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2331021" y="685800"/>
            <a:ext cx="9525" cy="247650"/>
          </a:xfrm>
          <a:prstGeom prst="rect">
            <a:avLst/>
          </a:prstGeom>
          <a:solidFill>
            <a:srgbClr val="E7E7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6"/>
          <p:cNvSpPr/>
          <p:nvPr/>
        </p:nvSpPr>
        <p:spPr>
          <a:xfrm>
            <a:off x="2550096" y="723900"/>
            <a:ext cx="301973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25"/>
              <a:buFont typeface="Inter"/>
              <a:buNone/>
            </a:pPr>
            <a:r>
              <a:rPr b="1" i="0" lang="en-US" sz="1125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SOVEREIGN CYBER-RESILIENCE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/>
          <p:nvPr/>
        </p:nvSpPr>
        <p:spPr>
          <a:xfrm>
            <a:off x="16539195" y="695325"/>
            <a:ext cx="79630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 / 12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91440" y="1428750"/>
            <a:ext cx="18105120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500"/>
              <a:buFont typeface="Inter"/>
              <a:buNone/>
            </a:pPr>
            <a:r>
              <a:rPr b="1" i="0" lang="en-US" sz="15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THE SYSTEM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6"/>
          <p:cNvSpPr/>
          <p:nvPr/>
        </p:nvSpPr>
        <p:spPr>
          <a:xfrm>
            <a:off x="91440" y="1795463"/>
            <a:ext cx="18105120" cy="6457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80252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4350"/>
              <a:buFont typeface="Source Serif 4"/>
              <a:buNone/>
            </a:pPr>
            <a:r>
              <a:rPr b="0" i="0" lang="en-US" sz="4350" u="none" cap="none" strike="noStrike">
                <a:solidFill>
                  <a:srgbClr val="16161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One closed, auditable loop.</a:t>
            </a:r>
            <a:endParaRPr b="0" i="0" sz="4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3823071" y="2555528"/>
            <a:ext cx="10641784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725"/>
              <a:buFont typeface="Inter"/>
              <a:buNone/>
            </a:pPr>
            <a:r>
              <a:rPr b="0" i="0" lang="en-US" sz="172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Six stages, ingest to audit — a full incident lifecycle that never leaves your perimeter.</a:t>
            </a:r>
            <a:endParaRPr b="0" i="0" sz="17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914400" y="3337054"/>
            <a:ext cx="2395761" cy="3810000"/>
          </a:xfrm>
          <a:prstGeom prst="roundRect">
            <a:avLst>
              <a:gd fmla="val 8747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/>
          <p:nvPr/>
        </p:nvSpPr>
        <p:spPr>
          <a:xfrm>
            <a:off x="1123950" y="3603754"/>
            <a:ext cx="438150" cy="438150"/>
          </a:xfrm>
          <a:prstGeom prst="ellipse">
            <a:avLst/>
          </a:prstGeom>
          <a:solidFill>
            <a:srgbClr val="EEF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6"/>
          <p:cNvSpPr/>
          <p:nvPr/>
        </p:nvSpPr>
        <p:spPr>
          <a:xfrm>
            <a:off x="1085850" y="3603754"/>
            <a:ext cx="5143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4F46B8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1123950" y="4232404"/>
            <a:ext cx="2174327" cy="3009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857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725"/>
              <a:buFont typeface="Inter"/>
              <a:buNone/>
            </a:pPr>
            <a:r>
              <a:rPr b="1" i="0" lang="en-US" sz="17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Ingest</a:t>
            </a:r>
            <a:endParaRPr b="0" i="0" sz="17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1123950" y="6451729"/>
            <a:ext cx="2052861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25"/>
              <a:buFont typeface="JetBrains Mono"/>
              <a:buNone/>
            </a:pPr>
            <a:r>
              <a:rPr b="0" i="0" lang="en-US" sz="112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OCSF Redis Streams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3405411" y="5092036"/>
            <a:ext cx="302568" cy="3381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C7D2"/>
              </a:buClr>
              <a:buSzPts val="1950"/>
              <a:buFont typeface="Inter"/>
              <a:buNone/>
            </a:pPr>
            <a:r>
              <a:rPr b="0" i="0" lang="en-US" sz="1950" u="none" cap="none" strike="noStrike">
                <a:solidFill>
                  <a:srgbClr val="C7C7D2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/>
          <p:nvPr/>
        </p:nvSpPr>
        <p:spPr>
          <a:xfrm>
            <a:off x="3727028" y="3337054"/>
            <a:ext cx="2395835" cy="3810000"/>
          </a:xfrm>
          <a:prstGeom prst="roundRect">
            <a:avLst>
              <a:gd fmla="val 8746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3936578" y="3603754"/>
            <a:ext cx="438150" cy="438150"/>
          </a:xfrm>
          <a:prstGeom prst="ellipse">
            <a:avLst/>
          </a:prstGeom>
          <a:solidFill>
            <a:srgbClr val="EEF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6"/>
          <p:cNvSpPr/>
          <p:nvPr/>
        </p:nvSpPr>
        <p:spPr>
          <a:xfrm>
            <a:off x="3898478" y="3603754"/>
            <a:ext cx="5143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4F46B8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3936578" y="4232404"/>
            <a:ext cx="2174409" cy="3009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857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725"/>
              <a:buFont typeface="Inter"/>
              <a:buNone/>
            </a:pPr>
            <a:r>
              <a:rPr b="1" i="0" lang="en-US" sz="17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UEBA detection</a:t>
            </a:r>
            <a:endParaRPr b="0" i="0" sz="17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3936578" y="6451729"/>
            <a:ext cx="2052935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25"/>
              <a:buFont typeface="JetBrains Mono"/>
              <a:buNone/>
            </a:pPr>
            <a:r>
              <a:rPr b="0" i="0" lang="en-US" sz="112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IsolationForest + ECOD · no labels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6218113" y="5092036"/>
            <a:ext cx="302568" cy="3381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C7D2"/>
              </a:buClr>
              <a:buSzPts val="1950"/>
              <a:buFont typeface="Inter"/>
              <a:buNone/>
            </a:pPr>
            <a:r>
              <a:rPr b="0" i="0" lang="en-US" sz="1950" u="none" cap="none" strike="noStrike">
                <a:solidFill>
                  <a:srgbClr val="C7C7D2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6539731" y="3337054"/>
            <a:ext cx="2395761" cy="3810000"/>
          </a:xfrm>
          <a:prstGeom prst="roundRect">
            <a:avLst>
              <a:gd fmla="val 8747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/>
          <p:nvPr/>
        </p:nvSpPr>
        <p:spPr>
          <a:xfrm>
            <a:off x="6749281" y="3603754"/>
            <a:ext cx="438150" cy="438150"/>
          </a:xfrm>
          <a:prstGeom prst="ellipse">
            <a:avLst/>
          </a:prstGeom>
          <a:solidFill>
            <a:srgbClr val="EEF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6"/>
          <p:cNvSpPr/>
          <p:nvPr/>
        </p:nvSpPr>
        <p:spPr>
          <a:xfrm>
            <a:off x="6711181" y="3603754"/>
            <a:ext cx="5143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4F46B8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6749281" y="4232404"/>
            <a:ext cx="2174327" cy="3009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857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725"/>
              <a:buFont typeface="Inter"/>
              <a:buNone/>
            </a:pPr>
            <a:r>
              <a:rPr b="1" i="0" lang="en-US" sz="17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Graph fusion</a:t>
            </a:r>
            <a:endParaRPr b="0" i="0" sz="17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6749281" y="6451729"/>
            <a:ext cx="2052861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25"/>
              <a:buFont typeface="JetBrains Mono"/>
              <a:buNone/>
            </a:pPr>
            <a:r>
              <a:rPr b="0" i="0" lang="en-US" sz="112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Neo4j · PPR anomaly lift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9030742" y="5092036"/>
            <a:ext cx="302568" cy="3381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C7D2"/>
              </a:buClr>
              <a:buSzPts val="1950"/>
              <a:buFont typeface="Inter"/>
              <a:buNone/>
            </a:pPr>
            <a:r>
              <a:rPr b="0" i="0" lang="en-US" sz="1950" u="none" cap="none" strike="noStrike">
                <a:solidFill>
                  <a:srgbClr val="C7C7D2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9352359" y="3337054"/>
            <a:ext cx="2395835" cy="3810000"/>
          </a:xfrm>
          <a:prstGeom prst="roundRect">
            <a:avLst>
              <a:gd fmla="val 8746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6"/>
          <p:cNvSpPr/>
          <p:nvPr/>
        </p:nvSpPr>
        <p:spPr>
          <a:xfrm>
            <a:off x="9561909" y="3603754"/>
            <a:ext cx="438150" cy="438150"/>
          </a:xfrm>
          <a:prstGeom prst="ellipse">
            <a:avLst/>
          </a:prstGeom>
          <a:solidFill>
            <a:srgbClr val="EEF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6"/>
          <p:cNvSpPr/>
          <p:nvPr/>
        </p:nvSpPr>
        <p:spPr>
          <a:xfrm>
            <a:off x="9523809" y="3603754"/>
            <a:ext cx="5143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4F46B8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6"/>
          <p:cNvSpPr/>
          <p:nvPr/>
        </p:nvSpPr>
        <p:spPr>
          <a:xfrm>
            <a:off x="9561909" y="4232404"/>
            <a:ext cx="2052935" cy="5637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857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725"/>
              <a:buFont typeface="Inter"/>
              <a:buNone/>
            </a:pPr>
            <a:r>
              <a:rPr b="1" i="0" lang="en-US" sz="17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ATT&amp;CK attribution</a:t>
            </a:r>
            <a:endParaRPr b="0" i="0" sz="17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9561909" y="6451729"/>
            <a:ext cx="2052935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25"/>
              <a:buFont typeface="JetBrains Mono"/>
              <a:buNone/>
            </a:pPr>
            <a:r>
              <a:rPr b="0" i="0" lang="en-US" sz="112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mapper + cite-or- abstain agent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11843445" y="5092036"/>
            <a:ext cx="302568" cy="3381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C7D2"/>
              </a:buClr>
              <a:buSzPts val="1950"/>
              <a:buFont typeface="Inter"/>
              <a:buNone/>
            </a:pPr>
            <a:r>
              <a:rPr b="0" i="0" lang="en-US" sz="1950" u="none" cap="none" strike="noStrike">
                <a:solidFill>
                  <a:srgbClr val="C7C7D2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12165062" y="3337054"/>
            <a:ext cx="2395835" cy="3810000"/>
          </a:xfrm>
          <a:prstGeom prst="roundRect">
            <a:avLst>
              <a:gd fmla="val 8746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6"/>
          <p:cNvSpPr/>
          <p:nvPr/>
        </p:nvSpPr>
        <p:spPr>
          <a:xfrm>
            <a:off x="12374612" y="3603754"/>
            <a:ext cx="438150" cy="438150"/>
          </a:xfrm>
          <a:prstGeom prst="ellipse">
            <a:avLst/>
          </a:prstGeom>
          <a:solidFill>
            <a:srgbClr val="EEF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6"/>
          <p:cNvSpPr/>
          <p:nvPr/>
        </p:nvSpPr>
        <p:spPr>
          <a:xfrm>
            <a:off x="12336512" y="3603754"/>
            <a:ext cx="5143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4F46B8"/>
                </a:solidFill>
                <a:latin typeface="Inter"/>
                <a:ea typeface="Inter"/>
                <a:cs typeface="Inter"/>
                <a:sym typeface="Inter"/>
              </a:rPr>
              <a:t>5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12374612" y="4232404"/>
            <a:ext cx="2174409" cy="3009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857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725"/>
              <a:buFont typeface="Inter"/>
              <a:buNone/>
            </a:pPr>
            <a:r>
              <a:rPr b="1" i="0" lang="en-US" sz="17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SOAR response</a:t>
            </a:r>
            <a:endParaRPr b="0" i="0" sz="17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12374612" y="6451729"/>
            <a:ext cx="2052935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25"/>
              <a:buFont typeface="JetBrains Mono"/>
              <a:buNone/>
            </a:pPr>
            <a:r>
              <a:rPr b="0" i="0" lang="en-US" sz="112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blast radius human gates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14656147" y="5092036"/>
            <a:ext cx="302568" cy="3381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C7D2"/>
              </a:buClr>
              <a:buSzPts val="1950"/>
              <a:buFont typeface="Inter"/>
              <a:buNone/>
            </a:pPr>
            <a:r>
              <a:rPr b="0" i="0" lang="en-US" sz="1950" u="none" cap="none" strike="noStrike">
                <a:solidFill>
                  <a:srgbClr val="C7C7D2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14977765" y="3337054"/>
            <a:ext cx="2395835" cy="3810000"/>
          </a:xfrm>
          <a:prstGeom prst="roundRect">
            <a:avLst>
              <a:gd fmla="val 8746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15187315" y="3603754"/>
            <a:ext cx="438150" cy="438150"/>
          </a:xfrm>
          <a:prstGeom prst="ellipse">
            <a:avLst/>
          </a:prstGeom>
          <a:solidFill>
            <a:srgbClr val="EEF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15149215" y="3603754"/>
            <a:ext cx="5143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4F46B8"/>
                </a:solidFill>
                <a:latin typeface="Inter"/>
                <a:ea typeface="Inter"/>
                <a:cs typeface="Inter"/>
                <a:sym typeface="Inter"/>
              </a:rPr>
              <a:t>6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15187315" y="4232404"/>
            <a:ext cx="2052935" cy="5637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857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725"/>
              <a:buFont typeface="Inter"/>
              <a:buNone/>
            </a:pPr>
            <a:r>
              <a:rPr b="1" i="0" lang="en-US" sz="17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Tamper-evident audit</a:t>
            </a:r>
            <a:endParaRPr b="0" i="0" sz="17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15187315" y="6451729"/>
            <a:ext cx="2052935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25"/>
              <a:buFont typeface="JetBrains Mono"/>
              <a:buNone/>
            </a:pPr>
            <a:r>
              <a:rPr b="0" i="0" lang="en-US" sz="112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SHA-256 hash- chained ledger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5809878" y="9032498"/>
            <a:ext cx="4744641" cy="457200"/>
          </a:xfrm>
          <a:prstGeom prst="roundRect">
            <a:avLst>
              <a:gd fmla="val 50000" name="adj"/>
            </a:avLst>
          </a:prstGeom>
          <a:solidFill>
            <a:srgbClr val="FFFFFF">
              <a:alpha val="98824"/>
            </a:srgbClr>
          </a:solidFill>
          <a:ln cap="flat" cmpd="sng" w="14275">
            <a:solidFill>
              <a:srgbClr val="D8DBE2">
                <a:alpha val="98824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6"/>
          <p:cNvSpPr/>
          <p:nvPr/>
        </p:nvSpPr>
        <p:spPr>
          <a:xfrm>
            <a:off x="6033715" y="9151560"/>
            <a:ext cx="222424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1425"/>
              <a:buFont typeface="Inter"/>
              <a:buNone/>
            </a:pPr>
            <a:r>
              <a:rPr b="1" i="0" lang="en-US" sz="1425" u="none" cap="none" strike="noStrike">
                <a:solidFill>
                  <a:srgbClr val="4F46B8"/>
                </a:solidFill>
                <a:latin typeface="Inter"/>
                <a:ea typeface="Inter"/>
                <a:cs typeface="Inter"/>
                <a:sym typeface="Inter"/>
              </a:rPr>
              <a:t>↻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6275189" y="9168229"/>
            <a:ext cx="4177157" cy="2238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200"/>
              <a:buFont typeface="Inter"/>
              <a:buNone/>
            </a:pPr>
            <a:r>
              <a:rPr b="1" i="0" lang="en-US" sz="120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Closed &amp; auditable — every action returns to the ledger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10706919" y="9087266"/>
            <a:ext cx="1771129" cy="347663"/>
          </a:xfrm>
          <a:prstGeom prst="roundRect">
            <a:avLst>
              <a:gd fmla="val 50000" name="adj"/>
            </a:avLst>
          </a:prstGeom>
          <a:solidFill>
            <a:srgbClr val="EEF1FF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"/>
          <p:cNvSpPr/>
          <p:nvPr/>
        </p:nvSpPr>
        <p:spPr>
          <a:xfrm>
            <a:off x="10878369" y="9172991"/>
            <a:ext cx="1504429" cy="21431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4F46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docker compose up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1115568" y="4846320"/>
            <a:ext cx="1993392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Inter"/>
              </a:rPr>
              <a:t>One OCSF contract — IT and OT together.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931920" y="4846320"/>
            <a:ext cx="1993392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Inter"/>
              </a:rPr>
              <a:t>Scores behaviour against each entity's own baseline.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739128" y="4846320"/>
            <a:ext cx="1993392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Inter"/>
              </a:rPr>
              <a:t>Weak signals reinforce into one ranked incident.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555480" y="4846320"/>
            <a:ext cx="1993392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Inter"/>
              </a:rPr>
              <a:t>Names the adversary's play; predicts the next move.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362688" y="4846320"/>
            <a:ext cx="1993392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Inter"/>
              </a:rPr>
              <a:t>Auto-runs the safe 75%; holds the crown jewels.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5179039" y="4846320"/>
            <a:ext cx="1993392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Inter"/>
              </a:rPr>
              <a:t>Append-only — edit one row and the chain breaks.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8FA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7"/>
          <p:cNvSpPr/>
          <p:nvPr/>
        </p:nvSpPr>
        <p:spPr>
          <a:xfrm>
            <a:off x="685800" y="457200"/>
            <a:ext cx="16916400" cy="7048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7"/>
          <p:cNvSpPr/>
          <p:nvPr/>
        </p:nvSpPr>
        <p:spPr>
          <a:xfrm>
            <a:off x="1028700" y="659606"/>
            <a:ext cx="1168971" cy="3381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950"/>
              <a:buFont typeface="Inter"/>
              <a:buNone/>
            </a:pPr>
            <a:r>
              <a:rPr b="1" i="0" lang="en-US" sz="195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PRAHARÍ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2331021" y="685800"/>
            <a:ext cx="9525" cy="247650"/>
          </a:xfrm>
          <a:prstGeom prst="rect">
            <a:avLst/>
          </a:prstGeom>
          <a:solidFill>
            <a:srgbClr val="E7E7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7"/>
          <p:cNvSpPr/>
          <p:nvPr/>
        </p:nvSpPr>
        <p:spPr>
          <a:xfrm>
            <a:off x="2550096" y="723900"/>
            <a:ext cx="301973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25"/>
              <a:buFont typeface="Inter"/>
              <a:buNone/>
            </a:pPr>
            <a:r>
              <a:rPr b="1" i="0" lang="en-US" sz="1125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SOVEREIGN CYBER-RESILIENCE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16539195" y="695325"/>
            <a:ext cx="79630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 / 12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7"/>
          <p:cNvSpPr/>
          <p:nvPr/>
        </p:nvSpPr>
        <p:spPr>
          <a:xfrm>
            <a:off x="914400" y="1428750"/>
            <a:ext cx="5037795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500"/>
              <a:buFont typeface="Inter"/>
              <a:buNone/>
            </a:pPr>
            <a:r>
              <a:rPr b="1" i="0" lang="en-US" sz="15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WHAT’S DIFFERENT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7"/>
          <p:cNvSpPr/>
          <p:nvPr/>
        </p:nvSpPr>
        <p:spPr>
          <a:xfrm>
            <a:off x="914400" y="1776413"/>
            <a:ext cx="5037795" cy="61413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545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4200"/>
              <a:buFont typeface="Source Serif 4"/>
              <a:buNone/>
            </a:pPr>
            <a:r>
              <a:rPr b="0" i="0" lang="en-US" sz="4200" u="none" cap="none" strike="noStrike">
                <a:solidFill>
                  <a:srgbClr val="16161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What sets it apart.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914400" y="2695828"/>
            <a:ext cx="8105775" cy="3310012"/>
          </a:xfrm>
          <a:prstGeom prst="roundRect">
            <a:avLst>
              <a:gd fmla="val 8057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"/>
          <p:cNvSpPr/>
          <p:nvPr/>
        </p:nvSpPr>
        <p:spPr>
          <a:xfrm>
            <a:off x="8513415" y="2962528"/>
            <a:ext cx="259110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D8E0"/>
              </a:buClr>
              <a:buSzPts val="1200"/>
              <a:buFont typeface="JetBrains Mono"/>
              <a:buNone/>
            </a:pPr>
            <a:r>
              <a:rPr b="0" i="0" lang="en-US" sz="1200" u="none" cap="none" strike="noStrike">
                <a:solidFill>
                  <a:srgbClr val="D8D8E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1276350" y="3019678"/>
            <a:ext cx="8120062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1050"/>
              <a:buFont typeface="Inter"/>
              <a:buNone/>
            </a:pPr>
            <a:r>
              <a:rPr b="1" i="0" lang="en-US" sz="1050" u="none" cap="none" strike="noStrike">
                <a:solidFill>
                  <a:srgbClr val="4F46B8"/>
                </a:solidFill>
                <a:latin typeface="Inter"/>
                <a:ea typeface="Inter"/>
                <a:cs typeface="Inter"/>
                <a:sym typeface="Inter"/>
              </a:rPr>
              <a:t>FUSION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1276350" y="3295903"/>
            <a:ext cx="8120062" cy="3476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2025"/>
              <a:buFont typeface="Inter"/>
              <a:buNone/>
            </a:pPr>
            <a:r>
              <a:rPr b="1" i="0" lang="en-US" sz="20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Graph anomaly-lift fusion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7"/>
          <p:cNvSpPr/>
          <p:nvPr/>
        </p:nvSpPr>
        <p:spPr>
          <a:xfrm>
            <a:off x="1276350" y="3738816"/>
            <a:ext cx="7603331" cy="65811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7647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75"/>
              <a:buFont typeface="Inter"/>
              <a:buNone/>
            </a:pPr>
            <a:r>
              <a:rPr b="0" i="0" lang="en-US" sz="157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Weak signals — scores </a:t>
            </a:r>
            <a:r>
              <a:rPr b="0" i="0" lang="en-US" sz="1425" u="none" cap="none" strike="noStrike">
                <a:solidFill>
                  <a:srgbClr val="16161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0.68–0.75 </a:t>
            </a:r>
            <a:r>
              <a:rPr b="0" i="0" lang="en-US" sz="157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— fuse to </a:t>
            </a:r>
            <a:r>
              <a:rPr b="0" i="0" lang="en-US" sz="1425" u="none" cap="none" strike="noStrike">
                <a:solidFill>
                  <a:srgbClr val="16161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≥0.90 </a:t>
            </a:r>
            <a:r>
              <a:rPr b="0" i="0" lang="en-US" sz="157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in one ranked incident. The top incident scores </a:t>
            </a:r>
            <a:r>
              <a:rPr b="1" i="0" lang="en-US" sz="157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~4× </a:t>
            </a:r>
            <a:r>
              <a:rPr b="0" i="0" lang="en-US" sz="157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the next.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/>
          <p:nvPr/>
        </p:nvSpPr>
        <p:spPr>
          <a:xfrm>
            <a:off x="9267825" y="2698150"/>
            <a:ext cx="8105775" cy="3310012"/>
          </a:xfrm>
          <a:prstGeom prst="roundRect">
            <a:avLst>
              <a:gd fmla="val 8057" name="adj"/>
            </a:avLst>
          </a:prstGeom>
          <a:solidFill>
            <a:srgbClr val="FFFFFF">
              <a:alpha val="98824"/>
            </a:srgbClr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16866840" y="2964850"/>
            <a:ext cx="259110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D8E0"/>
              </a:buClr>
              <a:buSzPts val="1200"/>
              <a:buFont typeface="JetBrains Mono"/>
              <a:buNone/>
            </a:pPr>
            <a:r>
              <a:rPr b="0" i="0" lang="en-US" sz="1200" u="none" cap="none" strike="noStrike">
                <a:solidFill>
                  <a:srgbClr val="D8D8E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9629775" y="3022000"/>
            <a:ext cx="8120062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1050"/>
              <a:buFont typeface="Inter"/>
              <a:buNone/>
            </a:pPr>
            <a:r>
              <a:rPr b="1" i="0" lang="en-US" sz="1050" u="none" cap="none" strike="noStrike">
                <a:solidFill>
                  <a:srgbClr val="4F46B8"/>
                </a:solidFill>
                <a:latin typeface="Inter"/>
                <a:ea typeface="Inter"/>
                <a:cs typeface="Inter"/>
                <a:sym typeface="Inter"/>
              </a:rPr>
              <a:t>ATTRIBUTION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9629775" y="3298225"/>
            <a:ext cx="8120062" cy="3476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2025"/>
              <a:buFont typeface="Inter"/>
              <a:buNone/>
            </a:pPr>
            <a:r>
              <a:rPr b="1" i="0" lang="en-US" sz="20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Agentic, with integrity rails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9629775" y="3741138"/>
            <a:ext cx="7603331" cy="65811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7647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75"/>
              <a:buFont typeface="Inter"/>
              <a:buNone/>
            </a:pPr>
            <a:r>
              <a:rPr b="0" i="0" lang="en-US" sz="157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A </a:t>
            </a:r>
            <a:r>
              <a:rPr b="1" i="0" lang="en-US" sz="157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cite-or-abstain </a:t>
            </a:r>
            <a:r>
              <a:rPr b="0" i="0" lang="en-US" sz="157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agent reasons over local RAG. It never sees ground truth — it can only cite evidence or decline.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914400" y="6255812"/>
            <a:ext cx="8105775" cy="3310086"/>
          </a:xfrm>
          <a:prstGeom prst="roundRect">
            <a:avLst>
              <a:gd fmla="val 8057" name="adj"/>
            </a:avLst>
          </a:prstGeom>
          <a:solidFill>
            <a:srgbClr val="FFFFFF">
              <a:alpha val="98824"/>
            </a:srgbClr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8513415" y="6522512"/>
            <a:ext cx="259110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D8E0"/>
              </a:buClr>
              <a:buSzPts val="1200"/>
              <a:buFont typeface="JetBrains Mono"/>
              <a:buNone/>
            </a:pPr>
            <a:r>
              <a:rPr b="0" i="0" lang="en-US" sz="1200" u="none" cap="none" strike="noStrike">
                <a:solidFill>
                  <a:srgbClr val="D8D8E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1276350" y="6579662"/>
            <a:ext cx="8120062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1050"/>
              <a:buFont typeface="Inter"/>
              <a:buNone/>
            </a:pPr>
            <a:r>
              <a:rPr b="1" i="0" lang="en-US" sz="1050" u="none" cap="none" strike="noStrike">
                <a:solidFill>
                  <a:srgbClr val="4F46B8"/>
                </a:solidFill>
                <a:latin typeface="Inter"/>
                <a:ea typeface="Inter"/>
                <a:cs typeface="Inter"/>
                <a:sym typeface="Inter"/>
              </a:rPr>
              <a:t>AUTONOMY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1276350" y="6855887"/>
            <a:ext cx="8120062" cy="3476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2025"/>
              <a:buFont typeface="Inter"/>
              <a:buNone/>
            </a:pPr>
            <a:r>
              <a:rPr b="1" i="0" lang="en-US" sz="20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The AI cannot open a gate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276350" y="7298800"/>
            <a:ext cx="7603331" cy="65811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7647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75"/>
              <a:buFont typeface="Inter"/>
              <a:buNone/>
            </a:pPr>
            <a:r>
              <a:rPr b="0" i="0" lang="en-US" sz="157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Agents only propose </a:t>
            </a:r>
            <a:r>
              <a:rPr b="0" i="0" lang="en-US" sz="1350" u="none" cap="none" strike="noStrike">
                <a:solidFill>
                  <a:srgbClr val="16161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{action, target, rationale} </a:t>
            </a:r>
            <a:r>
              <a:rPr b="0" i="0" lang="en-US" sz="157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. The platform decides the gate; high-impact actions need one human click.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9267825" y="6260966"/>
            <a:ext cx="8105775" cy="3310086"/>
          </a:xfrm>
          <a:prstGeom prst="roundRect">
            <a:avLst>
              <a:gd fmla="val 8057" name="adj"/>
            </a:avLst>
          </a:prstGeom>
          <a:solidFill>
            <a:srgbClr val="FFFFFF">
              <a:alpha val="96078"/>
            </a:srgbClr>
          </a:solidFill>
          <a:ln>
            <a:noFill/>
          </a:ln>
          <a:effectLst>
            <a:outerShdw blurRad="28575" rotWithShape="0" algn="bl" dir="5400000" dist="9525">
              <a:srgbClr val="111827">
                <a:alpha val="470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6866840" y="6527666"/>
            <a:ext cx="259110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D8E0"/>
              </a:buClr>
              <a:buSzPts val="1200"/>
              <a:buFont typeface="JetBrains Mono"/>
              <a:buNone/>
            </a:pPr>
            <a:r>
              <a:rPr b="0" i="0" lang="en-US" sz="1200" u="none" cap="none" strike="noStrike">
                <a:solidFill>
                  <a:srgbClr val="D8D8E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9629775" y="6584816"/>
            <a:ext cx="8120062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1050"/>
              <a:buFont typeface="Inter"/>
              <a:buNone/>
            </a:pPr>
            <a:r>
              <a:rPr b="1" i="0" lang="en-US" sz="1050" u="none" cap="none" strike="noStrike">
                <a:solidFill>
                  <a:srgbClr val="4F46B8"/>
                </a:solidFill>
                <a:latin typeface="Inter"/>
                <a:ea typeface="Inter"/>
                <a:cs typeface="Inter"/>
                <a:sym typeface="Inter"/>
              </a:rPr>
              <a:t>INTEGRITY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9629775" y="6861041"/>
            <a:ext cx="8120062" cy="3476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2025"/>
              <a:buFont typeface="Inter"/>
              <a:buNone/>
            </a:pPr>
            <a:r>
              <a:rPr b="1" i="0" lang="en-US" sz="20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Tamper-evident by design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9629775" y="7303954"/>
            <a:ext cx="7603331" cy="65811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7647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75"/>
              <a:buFont typeface="Inter"/>
              <a:buNone/>
            </a:pPr>
            <a:r>
              <a:rPr b="0" i="0" lang="en-US" sz="157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Rewrite one row and </a:t>
            </a:r>
            <a:r>
              <a:rPr b="0" i="0" lang="en-US" sz="1350" u="none" cap="none" strike="noStrike">
                <a:solidFill>
                  <a:srgbClr val="16161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verify_chain() </a:t>
            </a:r>
            <a:r>
              <a:rPr b="0" i="0" lang="en-US" sz="157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breaks at that exact entry. Plus zero-egress air-gap mode </a:t>
            </a:r>
            <a:r>
              <a:rPr b="0" i="0" lang="en-US" sz="1350" u="none" cap="none" strike="noStrike">
                <a:solidFill>
                  <a:srgbClr val="16161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PRAHARI_OFFLINE=1</a:t>
            </a:r>
            <a:r>
              <a:rPr b="0" i="0" lang="en-US" sz="157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8FA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8"/>
          <p:cNvSpPr/>
          <p:nvPr/>
        </p:nvSpPr>
        <p:spPr>
          <a:xfrm>
            <a:off x="685800" y="457200"/>
            <a:ext cx="16916400" cy="7048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8"/>
          <p:cNvSpPr/>
          <p:nvPr/>
        </p:nvSpPr>
        <p:spPr>
          <a:xfrm>
            <a:off x="1028700" y="659606"/>
            <a:ext cx="1168971" cy="3381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950"/>
              <a:buFont typeface="Inter"/>
              <a:buNone/>
            </a:pPr>
            <a:r>
              <a:rPr b="1" i="0" lang="en-US" sz="195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PRAHARÍ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8"/>
          <p:cNvSpPr/>
          <p:nvPr/>
        </p:nvSpPr>
        <p:spPr>
          <a:xfrm>
            <a:off x="2331021" y="685800"/>
            <a:ext cx="9525" cy="247650"/>
          </a:xfrm>
          <a:prstGeom prst="rect">
            <a:avLst/>
          </a:prstGeom>
          <a:solidFill>
            <a:srgbClr val="E7E7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8"/>
          <p:cNvSpPr/>
          <p:nvPr/>
        </p:nvSpPr>
        <p:spPr>
          <a:xfrm>
            <a:off x="2550096" y="723900"/>
            <a:ext cx="301973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25"/>
              <a:buFont typeface="Inter"/>
              <a:buNone/>
            </a:pPr>
            <a:r>
              <a:rPr b="1" i="0" lang="en-US" sz="1125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SOVEREIGN CYBER-RESILIENCE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8"/>
          <p:cNvSpPr/>
          <p:nvPr/>
        </p:nvSpPr>
        <p:spPr>
          <a:xfrm>
            <a:off x="16539195" y="695325"/>
            <a:ext cx="79630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 / 12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8"/>
          <p:cNvSpPr/>
          <p:nvPr/>
        </p:nvSpPr>
        <p:spPr>
          <a:xfrm>
            <a:off x="914400" y="1428750"/>
            <a:ext cx="18105120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500"/>
              <a:buFont typeface="Inter"/>
              <a:buNone/>
            </a:pPr>
            <a:r>
              <a:rPr b="1" i="0" lang="en-US" sz="15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THE SCENARIO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"/>
          <p:cNvSpPr/>
          <p:nvPr/>
        </p:nvSpPr>
        <p:spPr>
          <a:xfrm>
            <a:off x="914400" y="1776413"/>
            <a:ext cx="18105120" cy="61413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545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4200"/>
              <a:buFont typeface="Source Serif 4"/>
              <a:buNone/>
            </a:pPr>
            <a:r>
              <a:rPr b="0" i="0" lang="en-US" sz="4200" u="none" cap="none" strike="noStrike">
                <a:solidFill>
                  <a:srgbClr val="16161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A 21-day intrusion, step by step.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914400" y="2485802"/>
            <a:ext cx="1810512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725"/>
              <a:buFont typeface="Inter"/>
              <a:buNone/>
            </a:pPr>
            <a:r>
              <a:rPr b="0" i="0" lang="en-US" sz="172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A nation-state actor targets a State Examinations authority.</a:t>
            </a:r>
            <a:endParaRPr b="0" i="0" sz="17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/>
          <p:nvPr/>
        </p:nvSpPr>
        <p:spPr>
          <a:xfrm>
            <a:off x="1962150" y="3724529"/>
            <a:ext cx="14363700" cy="28575"/>
          </a:xfrm>
          <a:prstGeom prst="rect">
            <a:avLst/>
          </a:prstGeom>
          <a:solidFill>
            <a:srgbClr val="E7E7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8"/>
          <p:cNvSpPr/>
          <p:nvPr/>
        </p:nvSpPr>
        <p:spPr>
          <a:xfrm>
            <a:off x="1847850" y="5535097"/>
            <a:ext cx="190500" cy="190500"/>
          </a:xfrm>
          <a:prstGeom prst="ellipse">
            <a:avLst/>
          </a:prstGeom>
          <a:solidFill>
            <a:srgbClr val="B45309"/>
          </a:solidFill>
          <a:ln>
            <a:noFill/>
          </a:ln>
          <a:effectLst>
            <a:outerShdw blurRad="101600" rotWithShape="0" algn="bl" dir="16200000" dist="50800">
              <a:srgbClr val="F8F8FA">
                <a:alpha val="9960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8"/>
          <p:cNvSpPr/>
          <p:nvPr/>
        </p:nvSpPr>
        <p:spPr>
          <a:xfrm>
            <a:off x="1667247" y="5973247"/>
            <a:ext cx="551706" cy="2047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75"/>
              <a:buFont typeface="JetBrains Mono"/>
              <a:buNone/>
            </a:pPr>
            <a:r>
              <a:rPr b="0" i="0" lang="en-US" sz="97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DAY 01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1521768" y="6216135"/>
            <a:ext cx="842665" cy="26431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326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425"/>
              <a:buFont typeface="Inter"/>
              <a:buNone/>
            </a:pPr>
            <a:r>
              <a:rPr b="1" i="0" lang="en-US" sz="14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Foothold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995377" y="6480453"/>
            <a:ext cx="189544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10769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Inter"/>
              <a:buNone/>
            </a:pPr>
            <a:r>
              <a:rPr b="0" i="0" lang="en-US" sz="12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phishing on a clerk’s PC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3905250" y="5535097"/>
            <a:ext cx="190500" cy="190500"/>
          </a:xfrm>
          <a:prstGeom prst="ellipse">
            <a:avLst/>
          </a:prstGeom>
          <a:solidFill>
            <a:srgbClr val="B45309"/>
          </a:solidFill>
          <a:ln>
            <a:noFill/>
          </a:ln>
          <a:effectLst>
            <a:outerShdw blurRad="101600" rotWithShape="0" algn="bl" dir="16200000" dist="50800">
              <a:srgbClr val="F8F8FA">
                <a:alpha val="9960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8"/>
          <p:cNvSpPr/>
          <p:nvPr/>
        </p:nvSpPr>
        <p:spPr>
          <a:xfrm>
            <a:off x="3764235" y="5973247"/>
            <a:ext cx="472455" cy="2047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75"/>
              <a:buFont typeface="JetBrains Mono"/>
              <a:buNone/>
            </a:pPr>
            <a:r>
              <a:rPr b="0" i="0" lang="en-US" sz="97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02:00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3508697" y="6216135"/>
            <a:ext cx="983605" cy="26431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326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425"/>
              <a:buFont typeface="Inter"/>
              <a:buNone/>
            </a:pPr>
            <a:r>
              <a:rPr b="1" i="0" lang="en-US" sz="14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Valid login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3175479" y="6480453"/>
            <a:ext cx="1650043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10769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Inter"/>
              <a:buNone/>
            </a:pPr>
            <a:r>
              <a:rPr b="0" i="0" lang="en-US" sz="12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2 a.m. credential use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5962650" y="5535097"/>
            <a:ext cx="190500" cy="190500"/>
          </a:xfrm>
          <a:prstGeom prst="ellipse">
            <a:avLst/>
          </a:prstGeom>
          <a:solidFill>
            <a:srgbClr val="DC2626"/>
          </a:solidFill>
          <a:ln>
            <a:noFill/>
          </a:ln>
          <a:effectLst>
            <a:outerShdw blurRad="101600" rotWithShape="0" algn="bl" dir="16200000" dist="50800">
              <a:srgbClr val="F8F8FA">
                <a:alpha val="9960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8"/>
          <p:cNvSpPr/>
          <p:nvPr/>
        </p:nvSpPr>
        <p:spPr>
          <a:xfrm>
            <a:off x="5980137" y="5973247"/>
            <a:ext cx="155451" cy="2047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75"/>
              <a:buFont typeface="JetBrains Mono"/>
              <a:buNone/>
            </a:pPr>
            <a:r>
              <a:rPr b="0" i="0" lang="en-US" sz="97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—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5357463" y="6216135"/>
            <a:ext cx="1400874" cy="26431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326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425"/>
              <a:buFont typeface="Inter"/>
              <a:buNone/>
            </a:pPr>
            <a:r>
              <a:rPr b="1" i="0" lang="en-US" sz="14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Memory dump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5203493" y="6480453"/>
            <a:ext cx="170881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10769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Inter"/>
              <a:buNone/>
            </a:pPr>
            <a:r>
              <a:rPr b="0" i="0" lang="en-US" sz="12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credentials harvested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8020050" y="5535097"/>
            <a:ext cx="190500" cy="190500"/>
          </a:xfrm>
          <a:prstGeom prst="ellipse">
            <a:avLst/>
          </a:prstGeom>
          <a:solidFill>
            <a:srgbClr val="DC2626"/>
          </a:solidFill>
          <a:ln>
            <a:noFill/>
          </a:ln>
          <a:effectLst>
            <a:outerShdw blurRad="101600" rotWithShape="0" algn="bl" dir="16200000" dist="50800">
              <a:srgbClr val="F8F8FA">
                <a:alpha val="9960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7918698" y="5973247"/>
            <a:ext cx="393204" cy="2047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75"/>
              <a:buFont typeface="JetBrains Mono"/>
              <a:buNone/>
            </a:pPr>
            <a:r>
              <a:rPr b="0" i="0" lang="en-US" sz="97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WS03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7516118" y="6216135"/>
            <a:ext cx="1198364" cy="26431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326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425"/>
              <a:buFont typeface="Inter"/>
              <a:buNone/>
            </a:pPr>
            <a:r>
              <a:rPr b="1" i="0" lang="en-US" sz="14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Lateral move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7289955" y="6480453"/>
            <a:ext cx="1650616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10769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Inter"/>
              <a:buNone/>
            </a:pPr>
            <a:r>
              <a:rPr b="0" i="0" lang="en-US" sz="12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→ workstation WS03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10077450" y="5535097"/>
            <a:ext cx="190500" cy="190500"/>
          </a:xfrm>
          <a:prstGeom prst="ellipse">
            <a:avLst/>
          </a:prstGeom>
          <a:solidFill>
            <a:srgbClr val="DC2626"/>
          </a:solidFill>
          <a:ln>
            <a:noFill/>
          </a:ln>
          <a:effectLst>
            <a:outerShdw blurRad="101600" rotWithShape="0" algn="bl" dir="16200000" dist="50800">
              <a:srgbClr val="F8F8FA">
                <a:alpha val="9960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8"/>
          <p:cNvSpPr/>
          <p:nvPr/>
        </p:nvSpPr>
        <p:spPr>
          <a:xfrm>
            <a:off x="9976098" y="5973247"/>
            <a:ext cx="393204" cy="2047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75"/>
              <a:buFont typeface="JetBrains Mono"/>
              <a:buNone/>
            </a:pPr>
            <a:r>
              <a:rPr b="0" i="0" lang="en-US" sz="97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DC01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9682832" y="6216135"/>
            <a:ext cx="979736" cy="26431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326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425"/>
              <a:buFont typeface="Inter"/>
              <a:buNone/>
            </a:pPr>
            <a:r>
              <a:rPr b="1" i="0" lang="en-US" sz="14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Escalation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9382798" y="6480453"/>
            <a:ext cx="1579729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10769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Inter"/>
              <a:buNone/>
            </a:pPr>
            <a:r>
              <a:rPr b="0" i="0" lang="en-US" sz="12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→ domain controller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12134850" y="5535097"/>
            <a:ext cx="190500" cy="190500"/>
          </a:xfrm>
          <a:prstGeom prst="ellipse">
            <a:avLst/>
          </a:prstGeom>
          <a:solidFill>
            <a:srgbClr val="DC2626"/>
          </a:solidFill>
          <a:ln>
            <a:noFill/>
          </a:ln>
          <a:effectLst>
            <a:outerShdw blurRad="101600" rotWithShape="0" algn="bl" dir="16200000" dist="50800">
              <a:srgbClr val="F8F8FA">
                <a:alpha val="9960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8"/>
          <p:cNvSpPr/>
          <p:nvPr/>
        </p:nvSpPr>
        <p:spPr>
          <a:xfrm>
            <a:off x="11874996" y="5973247"/>
            <a:ext cx="710208" cy="2047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75"/>
              <a:buFont typeface="JetBrains Mono"/>
              <a:buNone/>
            </a:pPr>
            <a:r>
              <a:rPr b="0" i="0" lang="en-US" sz="97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DB-EXAMS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11606213" y="6216135"/>
            <a:ext cx="1247701" cy="26431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326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425"/>
              <a:buFont typeface="Inter"/>
              <a:buNone/>
            </a:pPr>
            <a:r>
              <a:rPr b="1" i="0" lang="en-US" sz="14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Crown jewels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/>
          <p:nvPr/>
        </p:nvSpPr>
        <p:spPr>
          <a:xfrm>
            <a:off x="11529826" y="6480453"/>
            <a:ext cx="1400547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10769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Inter"/>
              <a:buNone/>
            </a:pPr>
            <a:r>
              <a:rPr b="0" i="0" lang="en-US" sz="12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→ exam database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14192250" y="5535097"/>
            <a:ext cx="190500" cy="190500"/>
          </a:xfrm>
          <a:prstGeom prst="ellipse">
            <a:avLst/>
          </a:prstGeom>
          <a:solidFill>
            <a:srgbClr val="DC2626"/>
          </a:solidFill>
          <a:ln>
            <a:noFill/>
          </a:ln>
          <a:effectLst>
            <a:outerShdw blurRad="101600" rotWithShape="0" algn="bl" dir="16200000" dist="50800">
              <a:srgbClr val="F8F8FA">
                <a:alpha val="9960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8"/>
          <p:cNvSpPr/>
          <p:nvPr/>
        </p:nvSpPr>
        <p:spPr>
          <a:xfrm>
            <a:off x="14209737" y="5973247"/>
            <a:ext cx="155451" cy="2047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75"/>
              <a:buFont typeface="JetBrains Mono"/>
              <a:buNone/>
            </a:pPr>
            <a:r>
              <a:rPr b="0" i="0" lang="en-US" sz="97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—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13913941" y="6216135"/>
            <a:ext cx="747117" cy="26431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326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425"/>
              <a:buFont typeface="Inter"/>
              <a:buNone/>
            </a:pPr>
            <a:r>
              <a:rPr b="1" i="0" lang="en-US" sz="14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Staging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13361882" y="6480453"/>
            <a:ext cx="1851161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10769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Inter"/>
              <a:buNone/>
            </a:pPr>
            <a:r>
              <a:rPr b="0" i="0" lang="en-US" sz="12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exam records collected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16221075" y="5535097"/>
            <a:ext cx="247650" cy="247650"/>
          </a:xfrm>
          <a:prstGeom prst="ellipse">
            <a:avLst/>
          </a:prstGeom>
          <a:solidFill>
            <a:srgbClr val="F8F8FA"/>
          </a:solidFill>
          <a:ln cap="flat" cmpd="sng" w="28575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16200000" dist="50800">
              <a:srgbClr val="F8F8FA">
                <a:alpha val="9960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8"/>
          <p:cNvSpPr/>
          <p:nvPr/>
        </p:nvSpPr>
        <p:spPr>
          <a:xfrm>
            <a:off x="16069047" y="6030397"/>
            <a:ext cx="551706" cy="2047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75"/>
              <a:buFont typeface="JetBrains Mono"/>
              <a:buNone/>
            </a:pPr>
            <a:r>
              <a:rPr b="0" i="0" lang="en-US" sz="97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DAY 21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15829657" y="6273285"/>
            <a:ext cx="1030486" cy="26431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326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425"/>
              <a:buFont typeface="Inter"/>
              <a:buNone/>
            </a:pPr>
            <a:r>
              <a:rPr b="1" i="0" lang="en-US" sz="14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Exfiltration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15625067" y="6537603"/>
            <a:ext cx="1439592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10769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Inter"/>
              <a:buNone/>
            </a:pPr>
            <a:r>
              <a:rPr b="0" i="0" lang="en-US" sz="12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planned data theft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91440" y="9222999"/>
            <a:ext cx="1810512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725"/>
              <a:buFont typeface="Inter"/>
              <a:buNone/>
            </a:pPr>
            <a:r>
              <a:rPr b="0" i="0" lang="en-US" sz="172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Each step is individually ignorable — the graph fuses them into </a:t>
            </a:r>
            <a:r>
              <a:rPr b="1" i="0" lang="en-US" sz="17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one incident</a:t>
            </a:r>
            <a:r>
              <a:rPr b="0" i="0" lang="en-US" sz="172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7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2743200" y="4069080"/>
            <a:ext cx="1280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9CA3AF"/>
                </a:solidFill>
                <a:latin typeface="Inter"/>
              </a:rPr>
              <a:t>21 DAYS · LOW-AND-SLOW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2743200" y="7360920"/>
            <a:ext cx="12801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6161D"/>
                </a:solidFill>
                <a:latin typeface="Inter"/>
              </a:rPr>
              <a:t>Confirmed on day 1.66 — seventeen days before the planned theft.</a:t>
            </a:r>
          </a:p>
          <a:p>
            <a:pPr algn="ctr"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Inter"/>
              </a:rPr>
              <a:t>C2 severed at confirmation; the day-21 exfiltration never runs — </a:t>
            </a:r>
            <a:r>
              <a:rPr sz="1500" b="1">
                <a:solidFill>
                  <a:srgbClr val="059669"/>
                </a:solidFill>
                <a:latin typeface="Inter"/>
              </a:rPr>
              <a:t>breach prevented.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8FA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9"/>
          <p:cNvSpPr/>
          <p:nvPr/>
        </p:nvSpPr>
        <p:spPr>
          <a:xfrm>
            <a:off x="685800" y="457200"/>
            <a:ext cx="16916400" cy="7048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9"/>
          <p:cNvSpPr/>
          <p:nvPr/>
        </p:nvSpPr>
        <p:spPr>
          <a:xfrm>
            <a:off x="1028700" y="659606"/>
            <a:ext cx="1168971" cy="3381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950"/>
              <a:buFont typeface="Inter"/>
              <a:buNone/>
            </a:pPr>
            <a:r>
              <a:rPr b="1" i="0" lang="en-US" sz="195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PRAHARÍ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2331021" y="685800"/>
            <a:ext cx="9525" cy="247650"/>
          </a:xfrm>
          <a:prstGeom prst="rect">
            <a:avLst/>
          </a:prstGeom>
          <a:solidFill>
            <a:srgbClr val="E7E7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9"/>
          <p:cNvSpPr/>
          <p:nvPr/>
        </p:nvSpPr>
        <p:spPr>
          <a:xfrm>
            <a:off x="2550096" y="723900"/>
            <a:ext cx="301973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25"/>
              <a:buFont typeface="Inter"/>
              <a:buNone/>
            </a:pPr>
            <a:r>
              <a:rPr b="1" i="0" lang="en-US" sz="1125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SOVEREIGN CYBER-RESILIENCE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16539195" y="695325"/>
            <a:ext cx="79630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 / 12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914400" y="1428750"/>
            <a:ext cx="18105120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500"/>
              <a:buFont typeface="Inter"/>
              <a:buNone/>
            </a:pPr>
            <a:r>
              <a:rPr b="1" i="0" lang="en-US" sz="15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DETECTION &amp; RESPONSE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914400" y="1776413"/>
            <a:ext cx="18105120" cy="59352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81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4050"/>
              <a:buFont typeface="Source Serif 4"/>
              <a:buNone/>
            </a:pPr>
            <a:r>
              <a:rPr b="0" i="0" lang="en-US" sz="4050" u="none" cap="none" strike="noStrike">
                <a:solidFill>
                  <a:srgbClr val="16161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Confirmed on day 1.66 — and contained.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914400" y="2675215"/>
            <a:ext cx="6576045" cy="3276600"/>
          </a:xfrm>
          <a:prstGeom prst="roundRect">
            <a:avLst>
              <a:gd fmla="val 8140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9"/>
          <p:cNvSpPr/>
          <p:nvPr/>
        </p:nvSpPr>
        <p:spPr>
          <a:xfrm>
            <a:off x="1314450" y="3056215"/>
            <a:ext cx="5949223" cy="1352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66909"/>
              </a:lnSpc>
              <a:spcBef>
                <a:spcPts val="0"/>
              </a:spcBef>
              <a:spcAft>
                <a:spcPts val="0"/>
              </a:spcAft>
              <a:buClr>
                <a:srgbClr val="8A6A3E"/>
              </a:buClr>
              <a:buSzPts val="11250"/>
              <a:buFont typeface="Source Serif 4"/>
              <a:buNone/>
            </a:pPr>
            <a:r>
              <a:rPr b="0" i="0" lang="en-US" sz="11250" u="none" cap="none" strike="noStrike">
                <a:solidFill>
                  <a:srgbClr val="8A6A3E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1.66</a:t>
            </a:r>
            <a:r>
              <a:rPr b="0" i="0" lang="en-US" sz="3900" u="none" cap="none" strike="noStrike">
                <a:solidFill>
                  <a:srgbClr val="9C7C4E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days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9"/>
          <p:cNvSpPr/>
          <p:nvPr/>
        </p:nvSpPr>
        <p:spPr>
          <a:xfrm>
            <a:off x="1314450" y="4427815"/>
            <a:ext cx="635354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650"/>
              <a:buFont typeface="Inter"/>
              <a:buNone/>
            </a:pPr>
            <a:r>
              <a:rPr b="0" i="0" lang="en-US" sz="165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to confirmed detection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1314450" y="4951690"/>
            <a:ext cx="5775945" cy="9525"/>
          </a:xfrm>
          <a:prstGeom prst="rect">
            <a:avLst/>
          </a:prstGeom>
          <a:solidFill>
            <a:srgbClr val="E7E7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9"/>
          <p:cNvSpPr/>
          <p:nvPr/>
        </p:nvSpPr>
        <p:spPr>
          <a:xfrm>
            <a:off x="1314450" y="5227915"/>
            <a:ext cx="635354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2034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800"/>
              <a:buFont typeface="Inter"/>
              <a:buNone/>
            </a:pPr>
            <a:r>
              <a:rPr b="1" i="0" lang="en-US" sz="180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17 days </a:t>
            </a:r>
            <a:r>
              <a:rPr b="0" i="0" lang="en-US" sz="18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before the planned theft — not </a:t>
            </a:r>
            <a:r>
              <a:rPr b="0" i="0" lang="en-US" sz="18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200</a:t>
            </a:r>
            <a:r>
              <a:rPr b="0" i="0" lang="en-US" sz="18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7909545" y="2677535"/>
            <a:ext cx="9464055" cy="3276600"/>
          </a:xfrm>
          <a:prstGeom prst="roundRect">
            <a:avLst>
              <a:gd fmla="val 8140" name="adj"/>
            </a:avLst>
          </a:prstGeom>
          <a:solidFill>
            <a:srgbClr val="FFFFFF">
              <a:alpha val="98824"/>
            </a:srgbClr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9"/>
          <p:cNvSpPr/>
          <p:nvPr/>
        </p:nvSpPr>
        <p:spPr>
          <a:xfrm>
            <a:off x="8309595" y="3151404"/>
            <a:ext cx="95303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1050"/>
              <a:buFont typeface="Inter"/>
              <a:buNone/>
            </a:pPr>
            <a:r>
              <a:rPr b="1" i="0" lang="en-US" sz="1050" u="none" cap="none" strike="noStrike">
                <a:solidFill>
                  <a:srgbClr val="4F46B8"/>
                </a:solidFill>
                <a:latin typeface="Inter"/>
                <a:ea typeface="Inter"/>
                <a:cs typeface="Inter"/>
                <a:sym typeface="Inter"/>
              </a:rPr>
              <a:t>AUTOMATED RESPONSE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9"/>
          <p:cNvSpPr/>
          <p:nvPr/>
        </p:nvSpPr>
        <p:spPr>
          <a:xfrm>
            <a:off x="8309595" y="3560979"/>
            <a:ext cx="1082055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3300"/>
              <a:buFont typeface="JetBrains Mono"/>
              <a:buNone/>
            </a:pPr>
            <a:r>
              <a:rPr b="0" i="0" lang="en-US" sz="3300" u="none" cap="none" strike="noStrike">
                <a:solidFill>
                  <a:srgbClr val="16161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&lt;1 s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9467850" y="3784816"/>
            <a:ext cx="339209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650"/>
              <a:buFont typeface="Inter"/>
              <a:buNone/>
            </a:pPr>
            <a:r>
              <a:rPr b="0" i="0" lang="en-US" sz="165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command-and-control severed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9"/>
          <p:cNvSpPr/>
          <p:nvPr/>
        </p:nvSpPr>
        <p:spPr>
          <a:xfrm>
            <a:off x="8309595" y="4361079"/>
            <a:ext cx="1731079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500"/>
              <a:buFont typeface="Inter"/>
              <a:buNone/>
            </a:pPr>
            <a:r>
              <a:rPr b="1" i="0" lang="en-US" sz="150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Playbook actions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15584091" y="4372985"/>
            <a:ext cx="1528405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50"/>
              <a:buFont typeface="Inter"/>
              <a:buNone/>
            </a:pPr>
            <a:r>
              <a:rPr b="0" i="0" lang="en-US" sz="135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6 of 8 · 75% auto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8309595" y="4708741"/>
            <a:ext cx="1009129" cy="152400"/>
          </a:xfrm>
          <a:prstGeom prst="roundRect">
            <a:avLst>
              <a:gd fmla="val 50000" name="adj"/>
            </a:avLst>
          </a:prstGeom>
          <a:solidFill>
            <a:srgbClr val="059669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9394924" y="4708741"/>
            <a:ext cx="1009204" cy="152400"/>
          </a:xfrm>
          <a:prstGeom prst="roundRect">
            <a:avLst>
              <a:gd fmla="val 50000" name="adj"/>
            </a:avLst>
          </a:prstGeom>
          <a:solidFill>
            <a:srgbClr val="059669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10480328" y="4708741"/>
            <a:ext cx="1009129" cy="152400"/>
          </a:xfrm>
          <a:prstGeom prst="roundRect">
            <a:avLst>
              <a:gd fmla="val 50000" name="adj"/>
            </a:avLst>
          </a:prstGeom>
          <a:solidFill>
            <a:srgbClr val="059669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11565657" y="4708741"/>
            <a:ext cx="1009204" cy="152400"/>
          </a:xfrm>
          <a:prstGeom prst="roundRect">
            <a:avLst>
              <a:gd fmla="val 50000" name="adj"/>
            </a:avLst>
          </a:prstGeom>
          <a:solidFill>
            <a:srgbClr val="059669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12651060" y="4708741"/>
            <a:ext cx="1009129" cy="152400"/>
          </a:xfrm>
          <a:prstGeom prst="roundRect">
            <a:avLst>
              <a:gd fmla="val 50000" name="adj"/>
            </a:avLst>
          </a:prstGeom>
          <a:solidFill>
            <a:srgbClr val="059669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9"/>
          <p:cNvSpPr/>
          <p:nvPr/>
        </p:nvSpPr>
        <p:spPr>
          <a:xfrm>
            <a:off x="13736389" y="4708741"/>
            <a:ext cx="1009204" cy="152400"/>
          </a:xfrm>
          <a:prstGeom prst="roundRect">
            <a:avLst>
              <a:gd fmla="val 50000" name="adj"/>
            </a:avLst>
          </a:prstGeom>
          <a:solidFill>
            <a:srgbClr val="059669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9"/>
          <p:cNvSpPr/>
          <p:nvPr/>
        </p:nvSpPr>
        <p:spPr>
          <a:xfrm>
            <a:off x="14821793" y="4708741"/>
            <a:ext cx="1037779" cy="152400"/>
          </a:xfrm>
          <a:prstGeom prst="roundRect">
            <a:avLst>
              <a:gd fmla="val 50000" name="adj"/>
            </a:avLst>
          </a:prstGeom>
          <a:solidFill>
            <a:srgbClr val="E7C9A0">
              <a:alpha val="98824"/>
            </a:srgbClr>
          </a:solidFill>
          <a:ln cap="flat" cmpd="sng" w="14275">
            <a:solidFill>
              <a:srgbClr val="B45309">
                <a:alpha val="98824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9"/>
          <p:cNvSpPr/>
          <p:nvPr/>
        </p:nvSpPr>
        <p:spPr>
          <a:xfrm>
            <a:off x="15935771" y="4708741"/>
            <a:ext cx="1037779" cy="152400"/>
          </a:xfrm>
          <a:prstGeom prst="roundRect">
            <a:avLst>
              <a:gd fmla="val 50000" name="adj"/>
            </a:avLst>
          </a:prstGeom>
          <a:solidFill>
            <a:srgbClr val="E7C9A0">
              <a:alpha val="98824"/>
            </a:srgbClr>
          </a:solidFill>
          <a:ln cap="flat" cmpd="sng" w="14275">
            <a:solidFill>
              <a:srgbClr val="B45309">
                <a:alpha val="98824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9"/>
          <p:cNvSpPr/>
          <p:nvPr/>
        </p:nvSpPr>
        <p:spPr>
          <a:xfrm>
            <a:off x="8309595" y="5184991"/>
            <a:ext cx="167263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25"/>
              <a:buFont typeface="Inter"/>
              <a:buNone/>
            </a:pPr>
            <a:r>
              <a:rPr b="0" i="0" lang="en-US" sz="142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Held for a human: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9963522" y="5108791"/>
            <a:ext cx="1704975" cy="371475"/>
          </a:xfrm>
          <a:prstGeom prst="roundRect">
            <a:avLst>
              <a:gd fmla="val 50000" name="adj"/>
            </a:avLst>
          </a:prstGeom>
          <a:solidFill>
            <a:srgbClr val="FFFFFF">
              <a:alpha val="98824"/>
            </a:srgbClr>
          </a:solidFill>
          <a:ln cap="flat" cmpd="sng" w="14275">
            <a:solidFill>
              <a:srgbClr val="E4C9A6">
                <a:alpha val="98824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9"/>
          <p:cNvSpPr/>
          <p:nvPr/>
        </p:nvSpPr>
        <p:spPr>
          <a:xfrm>
            <a:off x="10130210" y="5199279"/>
            <a:ext cx="1447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125"/>
              <a:buFont typeface="JetBrains Mono"/>
              <a:buNone/>
            </a:pPr>
            <a:r>
              <a:rPr b="0" i="0" lang="en-US" sz="1125" u="none" cap="none" strike="noStrike">
                <a:solidFill>
                  <a:srgbClr val="B4530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isolate DB-EXAMS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11801847" y="5108791"/>
            <a:ext cx="2047875" cy="371475"/>
          </a:xfrm>
          <a:prstGeom prst="roundRect">
            <a:avLst>
              <a:gd fmla="val 50000" name="adj"/>
            </a:avLst>
          </a:prstGeom>
          <a:solidFill>
            <a:srgbClr val="FFFFFF">
              <a:alpha val="98824"/>
            </a:srgbClr>
          </a:solidFill>
          <a:ln cap="flat" cmpd="sng" w="14275">
            <a:solidFill>
              <a:srgbClr val="E4C9A6">
                <a:alpha val="98824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9"/>
          <p:cNvSpPr/>
          <p:nvPr/>
        </p:nvSpPr>
        <p:spPr>
          <a:xfrm>
            <a:off x="11968535" y="5199279"/>
            <a:ext cx="1790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125"/>
              <a:buFont typeface="JetBrains Mono"/>
              <a:buNone/>
            </a:pPr>
            <a:r>
              <a:rPr b="0" i="0" lang="en-US" sz="1125" u="none" cap="none" strike="noStrike">
                <a:solidFill>
                  <a:srgbClr val="B4530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disable domain admin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914400" y="6206936"/>
            <a:ext cx="16459200" cy="1066800"/>
          </a:xfrm>
          <a:prstGeom prst="roundRect">
            <a:avLst>
              <a:gd fmla="val 21429" name="adj"/>
            </a:avLst>
          </a:prstGeom>
          <a:solidFill>
            <a:srgbClr val="059669">
              <a:alpha val="705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1295400" y="6492686"/>
            <a:ext cx="495300" cy="495300"/>
          </a:xfrm>
          <a:prstGeom prst="ellipse">
            <a:avLst/>
          </a:prstGeom>
          <a:solidFill>
            <a:srgbClr val="059669">
              <a:alpha val="9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1257300" y="6492686"/>
            <a:ext cx="5715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Inter"/>
              <a:buNone/>
            </a:pPr>
            <a:r>
              <a:rPr b="0" i="0" lang="en-US" sz="2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✓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2057400" y="6586969"/>
            <a:ext cx="6465027" cy="344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725"/>
              <a:buFont typeface="Inter"/>
              <a:buNone/>
            </a:pPr>
            <a:r>
              <a:rPr b="0" i="0" lang="en-US" sz="172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Counterfactual — the May-21 exfiltration </a:t>
            </a:r>
            <a:r>
              <a:rPr b="1" i="0" lang="en-US" sz="17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never happens</a:t>
            </a:r>
            <a:r>
              <a:rPr b="0" i="0" lang="en-US" sz="1725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7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9"/>
          <p:cNvSpPr/>
          <p:nvPr/>
        </p:nvSpPr>
        <p:spPr>
          <a:xfrm>
            <a:off x="13412167" y="6454586"/>
            <a:ext cx="3938476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3300"/>
              <a:buFont typeface="Source Serif 4"/>
              <a:buNone/>
            </a:pPr>
            <a:r>
              <a:rPr b="0" i="0" lang="en-US" sz="3300" u="none" cap="none" strike="noStrike">
                <a:solidFill>
                  <a:srgbClr val="059669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Breach prevented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8FA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0"/>
          <p:cNvSpPr/>
          <p:nvPr/>
        </p:nvSpPr>
        <p:spPr>
          <a:xfrm>
            <a:off x="685800" y="457200"/>
            <a:ext cx="16916400" cy="7048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0"/>
          <p:cNvSpPr/>
          <p:nvPr/>
        </p:nvSpPr>
        <p:spPr>
          <a:xfrm>
            <a:off x="1028700" y="659606"/>
            <a:ext cx="1168971" cy="3381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950"/>
              <a:buFont typeface="Inter"/>
              <a:buNone/>
            </a:pPr>
            <a:r>
              <a:rPr b="1" i="0" lang="en-US" sz="195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PRAHARÍ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2331021" y="685800"/>
            <a:ext cx="9525" cy="247650"/>
          </a:xfrm>
          <a:prstGeom prst="rect">
            <a:avLst/>
          </a:prstGeom>
          <a:solidFill>
            <a:srgbClr val="E7E7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0"/>
          <p:cNvSpPr/>
          <p:nvPr/>
        </p:nvSpPr>
        <p:spPr>
          <a:xfrm>
            <a:off x="2550096" y="723900"/>
            <a:ext cx="301973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25"/>
              <a:buFont typeface="Inter"/>
              <a:buNone/>
            </a:pPr>
            <a:r>
              <a:rPr b="1" i="0" lang="en-US" sz="1125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SOVEREIGN CYBER-RESILIENCE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0"/>
          <p:cNvSpPr/>
          <p:nvPr/>
        </p:nvSpPr>
        <p:spPr>
          <a:xfrm>
            <a:off x="16539195" y="695325"/>
            <a:ext cx="79630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 / 12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0"/>
          <p:cNvSpPr/>
          <p:nvPr/>
        </p:nvSpPr>
        <p:spPr>
          <a:xfrm>
            <a:off x="914400" y="1428750"/>
            <a:ext cx="9553352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500"/>
              <a:buFont typeface="Inter"/>
              <a:buNone/>
            </a:pPr>
            <a:r>
              <a:rPr b="1" i="0" lang="en-US" sz="15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THE CONSOLE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0"/>
          <p:cNvSpPr/>
          <p:nvPr/>
        </p:nvSpPr>
        <p:spPr>
          <a:xfrm>
            <a:off x="914400" y="1776413"/>
            <a:ext cx="9553352" cy="59352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81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4050"/>
              <a:buFont typeface="Source Serif 4"/>
              <a:buNone/>
            </a:pPr>
            <a:r>
              <a:rPr b="0" i="0" lang="en-US" sz="4050" u="none" cap="none" strike="noStrike">
                <a:solidFill>
                  <a:srgbClr val="16161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One console, from verdict to ledger.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0"/>
          <p:cNvSpPr/>
          <p:nvPr/>
        </p:nvSpPr>
        <p:spPr>
          <a:xfrm>
            <a:off x="914400" y="2618065"/>
            <a:ext cx="16459200" cy="6945511"/>
          </a:xfrm>
          <a:prstGeom prst="roundRect">
            <a:avLst>
              <a:gd fmla="val 3291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0"/>
          <p:cNvSpPr/>
          <p:nvPr/>
        </p:nvSpPr>
        <p:spPr>
          <a:xfrm>
            <a:off x="914400" y="3280052"/>
            <a:ext cx="16459200" cy="9525"/>
          </a:xfrm>
          <a:prstGeom prst="rect">
            <a:avLst/>
          </a:prstGeom>
          <a:solidFill>
            <a:srgbClr val="EF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0"/>
          <p:cNvSpPr/>
          <p:nvPr/>
        </p:nvSpPr>
        <p:spPr>
          <a:xfrm>
            <a:off x="1181100" y="2887146"/>
            <a:ext cx="123825" cy="123825"/>
          </a:xfrm>
          <a:prstGeom prst="ellipse">
            <a:avLst/>
          </a:prstGeom>
          <a:solidFill>
            <a:srgbClr val="E4E4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0"/>
          <p:cNvSpPr/>
          <p:nvPr/>
        </p:nvSpPr>
        <p:spPr>
          <a:xfrm>
            <a:off x="1390650" y="2887146"/>
            <a:ext cx="123825" cy="123825"/>
          </a:xfrm>
          <a:prstGeom prst="ellipse">
            <a:avLst/>
          </a:prstGeom>
          <a:solidFill>
            <a:srgbClr val="E4E4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0"/>
          <p:cNvSpPr/>
          <p:nvPr/>
        </p:nvSpPr>
        <p:spPr>
          <a:xfrm>
            <a:off x="1600200" y="2887146"/>
            <a:ext cx="123825" cy="123825"/>
          </a:xfrm>
          <a:prstGeom prst="ellipse">
            <a:avLst/>
          </a:prstGeom>
          <a:solidFill>
            <a:srgbClr val="E4E4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0"/>
          <p:cNvSpPr/>
          <p:nvPr/>
        </p:nvSpPr>
        <p:spPr>
          <a:xfrm>
            <a:off x="1933575" y="2846665"/>
            <a:ext cx="2112280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JetBrains Mono"/>
              <a:buNone/>
            </a:pPr>
            <a:r>
              <a:rPr b="0" i="0" lang="en-US" sz="1200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praharí · soc-console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0"/>
          <p:cNvSpPr/>
          <p:nvPr/>
        </p:nvSpPr>
        <p:spPr>
          <a:xfrm>
            <a:off x="14711511" y="2906196"/>
            <a:ext cx="85725" cy="85725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0"/>
          <p:cNvSpPr/>
          <p:nvPr/>
        </p:nvSpPr>
        <p:spPr>
          <a:xfrm>
            <a:off x="14873436" y="2863334"/>
            <a:ext cx="316706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125"/>
              <a:buFont typeface="Inter"/>
              <a:buNone/>
            </a:pPr>
            <a:r>
              <a:rPr b="1" i="0" lang="en-US" sz="1125" u="none" cap="none" strike="noStrike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live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0"/>
          <p:cNvSpPr/>
          <p:nvPr/>
        </p:nvSpPr>
        <p:spPr>
          <a:xfrm>
            <a:off x="15266343" y="2808565"/>
            <a:ext cx="1840557" cy="280988"/>
          </a:xfrm>
          <a:prstGeom prst="roundRect">
            <a:avLst>
              <a:gd fmla="val 50000" name="adj"/>
            </a:avLst>
          </a:prstGeom>
          <a:solidFill>
            <a:srgbClr val="EEF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0"/>
          <p:cNvSpPr/>
          <p:nvPr/>
        </p:nvSpPr>
        <p:spPr>
          <a:xfrm>
            <a:off x="15418743" y="2875240"/>
            <a:ext cx="1611957" cy="1857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975"/>
              <a:buFont typeface="Inter"/>
              <a:buNone/>
            </a:pPr>
            <a:r>
              <a:rPr b="1" i="0" lang="en-US" sz="975" u="none" cap="none" strike="noStrike">
                <a:solidFill>
                  <a:srgbClr val="4F46B8"/>
                </a:solidFill>
                <a:latin typeface="Inter"/>
                <a:ea typeface="Inter"/>
                <a:cs typeface="Inter"/>
                <a:sym typeface="Inter"/>
              </a:rPr>
              <a:t/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0"/>
          <p:cNvSpPr/>
          <p:nvPr/>
        </p:nvSpPr>
        <p:spPr>
          <a:xfrm>
            <a:off x="914400" y="3289577"/>
            <a:ext cx="16459200" cy="6273998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0"/>
          <p:cNvSpPr/>
          <p:nvPr/>
        </p:nvSpPr>
        <p:spPr>
          <a:xfrm>
            <a:off x="1143000" y="3518177"/>
            <a:ext cx="9234488" cy="819150"/>
          </a:xfrm>
          <a:prstGeom prst="roundRect">
            <a:avLst>
              <a:gd fmla="val 16279" name="adj"/>
            </a:avLst>
          </a:prstGeom>
          <a:solidFill>
            <a:srgbClr val="FFFFFF"/>
          </a:solidFill>
          <a:ln cap="flat" cmpd="sng" w="9525">
            <a:solidFill>
              <a:srgbClr val="ECECF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0"/>
          <p:cNvSpPr/>
          <p:nvPr/>
        </p:nvSpPr>
        <p:spPr>
          <a:xfrm>
            <a:off x="1343025" y="3699152"/>
            <a:ext cx="1988106" cy="2047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75"/>
              <a:buFont typeface="JetBrains Mono"/>
              <a:buNone/>
            </a:pPr>
            <a:r>
              <a:rPr b="0" i="0" lang="en-US" sz="97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VERDICT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0"/>
          <p:cNvSpPr/>
          <p:nvPr/>
        </p:nvSpPr>
        <p:spPr>
          <a:xfrm>
            <a:off x="1343025" y="3922990"/>
            <a:ext cx="1988106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500"/>
              <a:buFont typeface="Inter"/>
              <a:buNone/>
            </a:pPr>
            <a:r>
              <a:rPr b="1" i="0" lang="en-US" sz="1500" u="none" cap="none" strike="noStrike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INC-001 · CRITICAL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0"/>
          <p:cNvSpPr/>
          <p:nvPr/>
        </p:nvSpPr>
        <p:spPr>
          <a:xfrm>
            <a:off x="9034463" y="3880127"/>
            <a:ext cx="1143000" cy="95250"/>
          </a:xfrm>
          <a:prstGeom prst="roundRect">
            <a:avLst>
              <a:gd fmla="val 50000" name="adj"/>
            </a:avLst>
          </a:prstGeom>
          <a:solidFill>
            <a:srgbClr val="F0EE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0"/>
          <p:cNvSpPr/>
          <p:nvPr/>
        </p:nvSpPr>
        <p:spPr>
          <a:xfrm>
            <a:off x="10548938" y="3518177"/>
            <a:ext cx="6596063" cy="819150"/>
          </a:xfrm>
          <a:prstGeom prst="roundRect">
            <a:avLst>
              <a:gd fmla="val 16279" name="adj"/>
            </a:avLst>
          </a:prstGeom>
          <a:solidFill>
            <a:srgbClr val="FFFFFF"/>
          </a:solidFill>
          <a:ln cap="flat" cmpd="sng" w="9525">
            <a:solidFill>
              <a:srgbClr val="ECECF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0"/>
          <p:cNvSpPr/>
          <p:nvPr/>
        </p:nvSpPr>
        <p:spPr>
          <a:xfrm>
            <a:off x="10748963" y="3844409"/>
            <a:ext cx="1086669" cy="2047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75"/>
              <a:buFont typeface="JetBrains Mono"/>
              <a:buNone/>
            </a:pPr>
            <a:r>
              <a:rPr b="0" i="0" lang="en-US" sz="97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REPLAY CLOCK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0"/>
          <p:cNvSpPr/>
          <p:nvPr/>
        </p:nvSpPr>
        <p:spPr>
          <a:xfrm>
            <a:off x="16030575" y="3801546"/>
            <a:ext cx="990600" cy="2905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16161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day 1.66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0"/>
          <p:cNvSpPr/>
          <p:nvPr/>
        </p:nvSpPr>
        <p:spPr>
          <a:xfrm>
            <a:off x="1143000" y="4508777"/>
            <a:ext cx="9234488" cy="4083248"/>
          </a:xfrm>
          <a:prstGeom prst="roundRect">
            <a:avLst>
              <a:gd fmla="val 3266" name="adj"/>
            </a:avLst>
          </a:prstGeom>
          <a:solidFill>
            <a:srgbClr val="FFFFFF"/>
          </a:solidFill>
          <a:ln cap="flat" cmpd="sng" w="9525">
            <a:solidFill>
              <a:srgbClr val="ECECF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0"/>
          <p:cNvSpPr/>
          <p:nvPr/>
        </p:nvSpPr>
        <p:spPr>
          <a:xfrm>
            <a:off x="1343025" y="4689752"/>
            <a:ext cx="9717881" cy="2047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75"/>
              <a:buFont typeface="JetBrains Mono"/>
              <a:buNone/>
            </a:pPr>
            <a:r>
              <a:rPr b="0" i="0" lang="en-US" sz="97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PROVENANCE GRAPH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0"/>
          <p:cNvSpPr/>
          <p:nvPr/>
        </p:nvSpPr>
        <p:spPr>
          <a:xfrm>
            <a:off x="1400175" y="6509920"/>
            <a:ext cx="247650" cy="247650"/>
          </a:xfrm>
          <a:prstGeom prst="ellipse">
            <a:avLst/>
          </a:prstGeom>
          <a:solidFill>
            <a:srgbClr val="EEF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0"/>
          <p:cNvSpPr/>
          <p:nvPr/>
        </p:nvSpPr>
        <p:spPr>
          <a:xfrm>
            <a:off x="1857375" y="6624220"/>
            <a:ext cx="381000" cy="19050"/>
          </a:xfrm>
          <a:prstGeom prst="rect">
            <a:avLst/>
          </a:prstGeom>
          <a:solidFill>
            <a:srgbClr val="E7E7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0"/>
          <p:cNvSpPr/>
          <p:nvPr/>
        </p:nvSpPr>
        <p:spPr>
          <a:xfrm>
            <a:off x="2447925" y="6509920"/>
            <a:ext cx="247650" cy="247650"/>
          </a:xfrm>
          <a:prstGeom prst="ellipse">
            <a:avLst/>
          </a:prstGeom>
          <a:solidFill>
            <a:srgbClr val="EEF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0"/>
          <p:cNvSpPr/>
          <p:nvPr/>
        </p:nvSpPr>
        <p:spPr>
          <a:xfrm>
            <a:off x="2905125" y="6624220"/>
            <a:ext cx="381000" cy="19050"/>
          </a:xfrm>
          <a:prstGeom prst="rect">
            <a:avLst/>
          </a:prstGeom>
          <a:solidFill>
            <a:srgbClr val="E7E7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10"/>
          <p:cNvSpPr/>
          <p:nvPr/>
        </p:nvSpPr>
        <p:spPr>
          <a:xfrm>
            <a:off x="3495675" y="6457533"/>
            <a:ext cx="352425" cy="352425"/>
          </a:xfrm>
          <a:prstGeom prst="ellipse">
            <a:avLst/>
          </a:prstGeom>
          <a:solidFill>
            <a:srgbClr val="FCE9E4"/>
          </a:solidFill>
          <a:ln cap="flat" cmpd="sng" w="14275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0"/>
          <p:cNvSpPr/>
          <p:nvPr/>
        </p:nvSpPr>
        <p:spPr>
          <a:xfrm>
            <a:off x="4057650" y="6624220"/>
            <a:ext cx="381000" cy="19050"/>
          </a:xfrm>
          <a:prstGeom prst="rect">
            <a:avLst/>
          </a:prstGeom>
          <a:solidFill>
            <a:srgbClr val="E7E7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0"/>
          <p:cNvSpPr/>
          <p:nvPr/>
        </p:nvSpPr>
        <p:spPr>
          <a:xfrm>
            <a:off x="4648200" y="6509920"/>
            <a:ext cx="247650" cy="247650"/>
          </a:xfrm>
          <a:prstGeom prst="ellipse">
            <a:avLst/>
          </a:prstGeom>
          <a:solidFill>
            <a:srgbClr val="EEF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0"/>
          <p:cNvSpPr/>
          <p:nvPr/>
        </p:nvSpPr>
        <p:spPr>
          <a:xfrm>
            <a:off x="10548938" y="4508777"/>
            <a:ext cx="6596063" cy="4083248"/>
          </a:xfrm>
          <a:prstGeom prst="roundRect">
            <a:avLst>
              <a:gd fmla="val 3266" name="adj"/>
            </a:avLst>
          </a:prstGeom>
          <a:solidFill>
            <a:srgbClr val="FFFFFF"/>
          </a:solidFill>
          <a:ln cap="flat" cmpd="sng" w="9525">
            <a:solidFill>
              <a:srgbClr val="ECECF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0"/>
          <p:cNvSpPr/>
          <p:nvPr/>
        </p:nvSpPr>
        <p:spPr>
          <a:xfrm>
            <a:off x="10748963" y="4689752"/>
            <a:ext cx="6815614" cy="2047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75"/>
              <a:buFont typeface="JetBrains Mono"/>
              <a:buNone/>
            </a:pPr>
            <a:r>
              <a:rPr b="0" i="0" lang="en-US" sz="97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ATT&amp;CK MATRIX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0"/>
          <p:cNvSpPr/>
          <p:nvPr/>
        </p:nvSpPr>
        <p:spPr>
          <a:xfrm>
            <a:off x="10748963" y="4989790"/>
            <a:ext cx="985019" cy="152400"/>
          </a:xfrm>
          <a:prstGeom prst="roundRect">
            <a:avLst>
              <a:gd fmla="val 25000" name="adj"/>
            </a:avLst>
          </a:prstGeom>
          <a:solidFill>
            <a:srgbClr val="EF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0"/>
          <p:cNvSpPr/>
          <p:nvPr/>
        </p:nvSpPr>
        <p:spPr>
          <a:xfrm>
            <a:off x="11791131" y="4989790"/>
            <a:ext cx="985019" cy="152400"/>
          </a:xfrm>
          <a:prstGeom prst="roundRect">
            <a:avLst>
              <a:gd fmla="val 25000" name="adj"/>
            </a:avLst>
          </a:prstGeom>
          <a:solidFill>
            <a:srgbClr val="EF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0"/>
          <p:cNvSpPr/>
          <p:nvPr/>
        </p:nvSpPr>
        <p:spPr>
          <a:xfrm>
            <a:off x="12833300" y="4989790"/>
            <a:ext cx="985019" cy="152400"/>
          </a:xfrm>
          <a:prstGeom prst="roundRect">
            <a:avLst>
              <a:gd fmla="val 25000" name="adj"/>
            </a:avLst>
          </a:prstGeom>
          <a:solidFill>
            <a:srgbClr val="F3D9C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0"/>
          <p:cNvSpPr/>
          <p:nvPr/>
        </p:nvSpPr>
        <p:spPr>
          <a:xfrm>
            <a:off x="13875469" y="4989790"/>
            <a:ext cx="985093" cy="152400"/>
          </a:xfrm>
          <a:prstGeom prst="roundRect">
            <a:avLst>
              <a:gd fmla="val 25000" name="adj"/>
            </a:avLst>
          </a:prstGeom>
          <a:solidFill>
            <a:srgbClr val="EF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0"/>
          <p:cNvSpPr/>
          <p:nvPr/>
        </p:nvSpPr>
        <p:spPr>
          <a:xfrm>
            <a:off x="14917713" y="4989790"/>
            <a:ext cx="985019" cy="152400"/>
          </a:xfrm>
          <a:prstGeom prst="roundRect">
            <a:avLst>
              <a:gd fmla="val 25000" name="adj"/>
            </a:avLst>
          </a:prstGeom>
          <a:solidFill>
            <a:srgbClr val="EF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0"/>
          <p:cNvSpPr/>
          <p:nvPr/>
        </p:nvSpPr>
        <p:spPr>
          <a:xfrm>
            <a:off x="15959882" y="4989790"/>
            <a:ext cx="985019" cy="152400"/>
          </a:xfrm>
          <a:prstGeom prst="roundRect">
            <a:avLst>
              <a:gd fmla="val 25000" name="adj"/>
            </a:avLst>
          </a:prstGeom>
          <a:solidFill>
            <a:srgbClr val="EF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0"/>
          <p:cNvSpPr/>
          <p:nvPr/>
        </p:nvSpPr>
        <p:spPr>
          <a:xfrm>
            <a:off x="10748963" y="5199340"/>
            <a:ext cx="985019" cy="152400"/>
          </a:xfrm>
          <a:prstGeom prst="roundRect">
            <a:avLst>
              <a:gd fmla="val 25000" name="adj"/>
            </a:avLst>
          </a:prstGeom>
          <a:solidFill>
            <a:srgbClr val="EF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0"/>
          <p:cNvSpPr/>
          <p:nvPr/>
        </p:nvSpPr>
        <p:spPr>
          <a:xfrm>
            <a:off x="11791131" y="5199340"/>
            <a:ext cx="985019" cy="152400"/>
          </a:xfrm>
          <a:prstGeom prst="roundRect">
            <a:avLst>
              <a:gd fmla="val 25000" name="adj"/>
            </a:avLst>
          </a:prstGeom>
          <a:solidFill>
            <a:srgbClr val="F6C9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0"/>
          <p:cNvSpPr/>
          <p:nvPr/>
        </p:nvSpPr>
        <p:spPr>
          <a:xfrm>
            <a:off x="12833300" y="5199340"/>
            <a:ext cx="985019" cy="152400"/>
          </a:xfrm>
          <a:prstGeom prst="roundRect">
            <a:avLst>
              <a:gd fmla="val 25000" name="adj"/>
            </a:avLst>
          </a:prstGeom>
          <a:solidFill>
            <a:srgbClr val="EF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0"/>
          <p:cNvSpPr/>
          <p:nvPr/>
        </p:nvSpPr>
        <p:spPr>
          <a:xfrm>
            <a:off x="13875469" y="5199340"/>
            <a:ext cx="985093" cy="152400"/>
          </a:xfrm>
          <a:prstGeom prst="roundRect">
            <a:avLst>
              <a:gd fmla="val 25000" name="adj"/>
            </a:avLst>
          </a:prstGeom>
          <a:solidFill>
            <a:srgbClr val="EF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0"/>
          <p:cNvSpPr/>
          <p:nvPr/>
        </p:nvSpPr>
        <p:spPr>
          <a:xfrm>
            <a:off x="14917713" y="5199340"/>
            <a:ext cx="985019" cy="152400"/>
          </a:xfrm>
          <a:prstGeom prst="roundRect">
            <a:avLst>
              <a:gd fmla="val 25000" name="adj"/>
            </a:avLst>
          </a:prstGeom>
          <a:solidFill>
            <a:srgbClr val="F3D9C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0"/>
          <p:cNvSpPr/>
          <p:nvPr/>
        </p:nvSpPr>
        <p:spPr>
          <a:xfrm>
            <a:off x="15959882" y="5199340"/>
            <a:ext cx="985019" cy="152400"/>
          </a:xfrm>
          <a:prstGeom prst="roundRect">
            <a:avLst>
              <a:gd fmla="val 25000" name="adj"/>
            </a:avLst>
          </a:prstGeom>
          <a:solidFill>
            <a:srgbClr val="EF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10"/>
          <p:cNvSpPr/>
          <p:nvPr/>
        </p:nvSpPr>
        <p:spPr>
          <a:xfrm>
            <a:off x="10748963" y="5408890"/>
            <a:ext cx="985019" cy="152400"/>
          </a:xfrm>
          <a:prstGeom prst="roundRect">
            <a:avLst>
              <a:gd fmla="val 25000" name="adj"/>
            </a:avLst>
          </a:prstGeom>
          <a:solidFill>
            <a:srgbClr val="EF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0"/>
          <p:cNvSpPr/>
          <p:nvPr/>
        </p:nvSpPr>
        <p:spPr>
          <a:xfrm>
            <a:off x="11791131" y="5408890"/>
            <a:ext cx="985019" cy="152400"/>
          </a:xfrm>
          <a:prstGeom prst="roundRect">
            <a:avLst>
              <a:gd fmla="val 25000" name="adj"/>
            </a:avLst>
          </a:prstGeom>
          <a:solidFill>
            <a:srgbClr val="EF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0"/>
          <p:cNvSpPr/>
          <p:nvPr/>
        </p:nvSpPr>
        <p:spPr>
          <a:xfrm>
            <a:off x="12833300" y="5408890"/>
            <a:ext cx="985019" cy="152400"/>
          </a:xfrm>
          <a:prstGeom prst="roundRect">
            <a:avLst>
              <a:gd fmla="val 25000" name="adj"/>
            </a:avLst>
          </a:prstGeom>
          <a:solidFill>
            <a:srgbClr val="EF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0"/>
          <p:cNvSpPr/>
          <p:nvPr/>
        </p:nvSpPr>
        <p:spPr>
          <a:xfrm>
            <a:off x="13875469" y="5408890"/>
            <a:ext cx="985093" cy="152400"/>
          </a:xfrm>
          <a:prstGeom prst="roundRect">
            <a:avLst>
              <a:gd fmla="val 25000" name="adj"/>
            </a:avLst>
          </a:prstGeom>
          <a:solidFill>
            <a:srgbClr val="F6C9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0"/>
          <p:cNvSpPr/>
          <p:nvPr/>
        </p:nvSpPr>
        <p:spPr>
          <a:xfrm>
            <a:off x="14917713" y="5408890"/>
            <a:ext cx="985019" cy="152400"/>
          </a:xfrm>
          <a:prstGeom prst="roundRect">
            <a:avLst>
              <a:gd fmla="val 25000" name="adj"/>
            </a:avLst>
          </a:prstGeom>
          <a:solidFill>
            <a:srgbClr val="EF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0"/>
          <p:cNvSpPr/>
          <p:nvPr/>
        </p:nvSpPr>
        <p:spPr>
          <a:xfrm>
            <a:off x="15959882" y="5408890"/>
            <a:ext cx="985019" cy="152400"/>
          </a:xfrm>
          <a:prstGeom prst="roundRect">
            <a:avLst>
              <a:gd fmla="val 25000" name="adj"/>
            </a:avLst>
          </a:prstGeom>
          <a:solidFill>
            <a:srgbClr val="EF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0"/>
          <p:cNvSpPr/>
          <p:nvPr/>
        </p:nvSpPr>
        <p:spPr>
          <a:xfrm>
            <a:off x="1143000" y="8763476"/>
            <a:ext cx="9234488" cy="571500"/>
          </a:xfrm>
          <a:prstGeom prst="roundRect">
            <a:avLst>
              <a:gd fmla="val 23333" name="adj"/>
            </a:avLst>
          </a:prstGeom>
          <a:solidFill>
            <a:srgbClr val="FFFFFF"/>
          </a:solidFill>
          <a:ln cap="flat" cmpd="sng" w="9525">
            <a:solidFill>
              <a:srgbClr val="ECECF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0"/>
          <p:cNvSpPr/>
          <p:nvPr/>
        </p:nvSpPr>
        <p:spPr>
          <a:xfrm>
            <a:off x="1343025" y="8965882"/>
            <a:ext cx="918270" cy="2047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75"/>
              <a:buFont typeface="JetBrains Mono"/>
              <a:buNone/>
            </a:pPr>
            <a:r>
              <a:rPr b="0" i="0" lang="en-US" sz="97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SOAR QUEUE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0"/>
          <p:cNvSpPr/>
          <p:nvPr/>
        </p:nvSpPr>
        <p:spPr>
          <a:xfrm>
            <a:off x="9049643" y="8956357"/>
            <a:ext cx="1204020" cy="2238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Inter"/>
              <a:buNone/>
            </a:pPr>
            <a:r>
              <a:rPr b="0" i="0" lang="en-US" sz="12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6 auto · </a:t>
            </a:r>
            <a:r>
              <a:rPr b="0" i="0" lang="en-US" sz="1200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2 gated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0"/>
          <p:cNvSpPr/>
          <p:nvPr/>
        </p:nvSpPr>
        <p:spPr>
          <a:xfrm>
            <a:off x="10548938" y="8763476"/>
            <a:ext cx="6596063" cy="571500"/>
          </a:xfrm>
          <a:prstGeom prst="roundRect">
            <a:avLst>
              <a:gd fmla="val 23333" name="adj"/>
            </a:avLst>
          </a:prstGeom>
          <a:solidFill>
            <a:srgbClr val="FFFFFF"/>
          </a:solidFill>
          <a:ln cap="flat" cmpd="sng" w="9525">
            <a:solidFill>
              <a:srgbClr val="ECECF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0"/>
          <p:cNvSpPr/>
          <p:nvPr/>
        </p:nvSpPr>
        <p:spPr>
          <a:xfrm>
            <a:off x="10748963" y="8965882"/>
            <a:ext cx="1945050" cy="2047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975"/>
              <a:buFont typeface="JetBrains Mono"/>
              <a:buNone/>
            </a:pPr>
            <a:r>
              <a:rPr b="0" i="0" lang="en-US" sz="975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TAMPER-EVIDENT LEDGER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0"/>
          <p:cNvSpPr/>
          <p:nvPr/>
        </p:nvSpPr>
        <p:spPr>
          <a:xfrm>
            <a:off x="16316548" y="8956357"/>
            <a:ext cx="478929" cy="2238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200"/>
              <a:buFont typeface="Inter"/>
              <a:buNone/>
            </a:pPr>
            <a:r>
              <a:rPr b="1" i="0" lang="en-US" sz="1200" u="none" cap="none" strike="noStrike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chain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0"/>
          <p:cNvSpPr/>
          <p:nvPr/>
        </p:nvSpPr>
        <p:spPr>
          <a:xfrm>
            <a:off x="16795477" y="8944451"/>
            <a:ext cx="225698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350"/>
              <a:buFont typeface="Inter"/>
              <a:buNone/>
            </a:pPr>
            <a:r>
              <a:rPr b="1" i="0" lang="en-US" sz="1350" u="none" cap="none" strike="noStrike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✓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Rounded Rectangle 310"/>
          <p:cNvSpPr/>
          <p:nvPr/>
        </p:nvSpPr>
        <p:spPr>
          <a:xfrm>
            <a:off x="1024128" y="3383280"/>
            <a:ext cx="16239744" cy="60899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7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2" name="Picture 311" descr="lens_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6292" y="3611880"/>
            <a:ext cx="7715416" cy="5623560"/>
          </a:xfrm>
          <a:prstGeom prst="rect">
            <a:avLst/>
          </a:prstGeom>
        </p:spPr>
      </p:pic>
      <p:sp>
        <p:nvSpPr>
          <p:cNvPr id="313" name="TextBox 312"/>
          <p:cNvSpPr txBox="1"/>
          <p:nvPr/>
        </p:nvSpPr>
        <p:spPr>
          <a:xfrm>
            <a:off x="1417320" y="416052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1">
                <a:solidFill>
                  <a:srgbClr val="B45309"/>
                </a:solidFill>
                <a:latin typeface="Inter"/>
              </a:rPr>
              <a:t>VERDICT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B5563"/>
                </a:solidFill>
                <a:latin typeface="Inter"/>
              </a:rPr>
              <a:t>INC-001 · CRITICAL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417320" y="553212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1">
                <a:solidFill>
                  <a:srgbClr val="B45309"/>
                </a:solidFill>
                <a:latin typeface="Inter"/>
              </a:rPr>
              <a:t>REPLAY CLOCK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B5563"/>
                </a:solidFill>
                <a:latin typeface="Inter"/>
              </a:rPr>
              <a:t>day 1.66 · contained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1417320" y="690372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1">
                <a:solidFill>
                  <a:srgbClr val="B45309"/>
                </a:solidFill>
                <a:latin typeface="Inter"/>
              </a:rPr>
              <a:t>PROVENANCE GRAPH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B5563"/>
                </a:solidFill>
                <a:latin typeface="Inter"/>
              </a:rPr>
              <a:t>coloured by the system's own scores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13413187" y="416052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1">
                <a:solidFill>
                  <a:srgbClr val="B45309"/>
                </a:solidFill>
                <a:latin typeface="Inter"/>
              </a:rPr>
              <a:t>ATT&amp;CK MATRIX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B5563"/>
                </a:solidFill>
                <a:latin typeface="Inter"/>
              </a:rPr>
              <a:t>observed + predicted next moves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13413187" y="553212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1">
                <a:solidFill>
                  <a:srgbClr val="B45309"/>
                </a:solidFill>
                <a:latin typeface="Inter"/>
              </a:rPr>
              <a:t>SOAR QUEUE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B5563"/>
                </a:solidFill>
                <a:latin typeface="Inter"/>
              </a:rPr>
              <a:t>6 auto · 2 human-gated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13413187" y="690372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75" b="1">
                <a:solidFill>
                  <a:srgbClr val="B45309"/>
                </a:solidFill>
                <a:latin typeface="Inter"/>
              </a:rPr>
              <a:t>TAMPER-EVIDENT LEDGER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B5563"/>
                </a:solidFill>
                <a:latin typeface="Inter"/>
              </a:rPr>
              <a:t>SHA-256 chain · verify 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8FA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1"/>
          <p:cNvSpPr/>
          <p:nvPr/>
        </p:nvSpPr>
        <p:spPr>
          <a:xfrm>
            <a:off x="685800" y="457200"/>
            <a:ext cx="16916400" cy="7048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1"/>
          <p:cNvSpPr/>
          <p:nvPr/>
        </p:nvSpPr>
        <p:spPr>
          <a:xfrm>
            <a:off x="1028700" y="659606"/>
            <a:ext cx="1168971" cy="3381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950"/>
              <a:buFont typeface="Inter"/>
              <a:buNone/>
            </a:pPr>
            <a:r>
              <a:rPr b="1" i="0" lang="en-US" sz="195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PRAHARÍ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1"/>
          <p:cNvSpPr/>
          <p:nvPr/>
        </p:nvSpPr>
        <p:spPr>
          <a:xfrm>
            <a:off x="2331021" y="685800"/>
            <a:ext cx="9525" cy="247650"/>
          </a:xfrm>
          <a:prstGeom prst="rect">
            <a:avLst/>
          </a:prstGeom>
          <a:solidFill>
            <a:srgbClr val="E7E7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1"/>
          <p:cNvSpPr/>
          <p:nvPr/>
        </p:nvSpPr>
        <p:spPr>
          <a:xfrm>
            <a:off x="2550096" y="723900"/>
            <a:ext cx="301973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25"/>
              <a:buFont typeface="Inter"/>
              <a:buNone/>
            </a:pPr>
            <a:r>
              <a:rPr b="1" i="0" lang="en-US" sz="1125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SOVEREIGN CYBER-RESILIENCE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1"/>
          <p:cNvSpPr/>
          <p:nvPr/>
        </p:nvSpPr>
        <p:spPr>
          <a:xfrm>
            <a:off x="16539195" y="695325"/>
            <a:ext cx="79630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 / 12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1"/>
          <p:cNvSpPr/>
          <p:nvPr/>
        </p:nvSpPr>
        <p:spPr>
          <a:xfrm>
            <a:off x="914400" y="1428750"/>
            <a:ext cx="18105120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500"/>
              <a:buFont typeface="Inter"/>
              <a:buNone/>
            </a:pPr>
            <a:r>
              <a:rPr b="1" i="0" lang="en-US" sz="15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RESULTS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1"/>
          <p:cNvSpPr/>
          <p:nvPr/>
        </p:nvSpPr>
        <p:spPr>
          <a:xfrm>
            <a:off x="914400" y="1776413"/>
            <a:ext cx="18105120" cy="59352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81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4050"/>
              <a:buFont typeface="Source Serif 4"/>
              <a:buNone/>
            </a:pPr>
            <a:r>
              <a:rPr b="0" i="0" lang="en-US" sz="4050" u="none" cap="none" strike="noStrike">
                <a:solidFill>
                  <a:srgbClr val="16161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Results, in the honest order.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1"/>
          <p:cNvSpPr/>
          <p:nvPr/>
        </p:nvSpPr>
        <p:spPr>
          <a:xfrm>
            <a:off x="914400" y="2637420"/>
            <a:ext cx="16459200" cy="4438650"/>
          </a:xfrm>
          <a:prstGeom prst="roundRect">
            <a:avLst>
              <a:gd fmla="val 6009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1"/>
          <p:cNvSpPr/>
          <p:nvPr/>
        </p:nvSpPr>
        <p:spPr>
          <a:xfrm>
            <a:off x="2019300" y="2961270"/>
            <a:ext cx="5350319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Inter"/>
              <a:buNone/>
            </a:pPr>
            <a:r>
              <a:rPr b="1" i="0" lang="en-US" sz="105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EVALUATION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1"/>
          <p:cNvSpPr/>
          <p:nvPr/>
        </p:nvSpPr>
        <p:spPr>
          <a:xfrm>
            <a:off x="6883226" y="2961270"/>
            <a:ext cx="570704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Inter"/>
              <a:buNone/>
            </a:pPr>
            <a:r>
              <a:rPr b="1" i="0" lang="en-US" sz="105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WHAT IT TESTS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1"/>
          <p:cNvSpPr/>
          <p:nvPr/>
        </p:nvSpPr>
        <p:spPr>
          <a:xfrm>
            <a:off x="11585049" y="2961270"/>
            <a:ext cx="5350401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Inter"/>
              <a:buNone/>
            </a:pPr>
            <a:r>
              <a:rPr b="1" i="0" lang="en-US" sz="105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HEADLINE METRIC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1"/>
          <p:cNvSpPr/>
          <p:nvPr/>
        </p:nvSpPr>
        <p:spPr>
          <a:xfrm>
            <a:off x="1352550" y="3313695"/>
            <a:ext cx="15582900" cy="9525"/>
          </a:xfrm>
          <a:prstGeom prst="rect">
            <a:avLst/>
          </a:prstGeom>
          <a:solidFill>
            <a:srgbClr val="E7E7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1"/>
          <p:cNvSpPr/>
          <p:nvPr/>
        </p:nvSpPr>
        <p:spPr>
          <a:xfrm>
            <a:off x="1352550" y="3701839"/>
            <a:ext cx="742950" cy="48101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C7D2"/>
              </a:buClr>
              <a:buSzPts val="2550"/>
              <a:buFont typeface="Source Serif 4"/>
              <a:buNone/>
            </a:pPr>
            <a:r>
              <a:rPr b="0" i="0" lang="en-US" sz="2550" u="none" cap="none" strike="noStrike">
                <a:solidFill>
                  <a:srgbClr val="C7C7D2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01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1"/>
          <p:cNvSpPr/>
          <p:nvPr/>
        </p:nvSpPr>
        <p:spPr>
          <a:xfrm>
            <a:off x="2019300" y="3670882"/>
            <a:ext cx="5350319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875"/>
              <a:buFont typeface="Inter"/>
              <a:buNone/>
            </a:pPr>
            <a:r>
              <a:rPr b="1" i="0" lang="en-US" sz="187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External benchmark</a:t>
            </a:r>
            <a:endParaRPr b="0" i="0" sz="18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1"/>
          <p:cNvSpPr/>
          <p:nvPr/>
        </p:nvSpPr>
        <p:spPr>
          <a:xfrm>
            <a:off x="2019300" y="4013782"/>
            <a:ext cx="5350319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1050"/>
              <a:buFont typeface="Inter"/>
              <a:buNone/>
            </a:pPr>
            <a:r>
              <a:rPr b="1" i="0" lang="en-US" sz="1050" u="none" cap="none" strike="noStrike">
                <a:solidFill>
                  <a:srgbClr val="4F46B8"/>
                </a:solidFill>
                <a:latin typeface="Inter"/>
                <a:ea typeface="Inter"/>
                <a:cs typeface="Inter"/>
                <a:sym typeface="Inter"/>
              </a:rPr>
              <a:t>HELD-OUT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1"/>
          <p:cNvSpPr/>
          <p:nvPr/>
        </p:nvSpPr>
        <p:spPr>
          <a:xfrm>
            <a:off x="6883226" y="3806614"/>
            <a:ext cx="5707045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Inter"/>
              <a:buNone/>
            </a:pPr>
            <a:r>
              <a:rPr b="0" i="0" lang="en-US" sz="15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Public CIC-IDS-2017, never seen in training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1"/>
          <p:cNvSpPr/>
          <p:nvPr/>
        </p:nvSpPr>
        <p:spPr>
          <a:xfrm>
            <a:off x="11585049" y="3608970"/>
            <a:ext cx="5350401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2550"/>
              <a:buFont typeface="JetBrains Mono"/>
              <a:buNone/>
            </a:pPr>
            <a:r>
              <a:rPr b="0" i="0" lang="en-US" sz="2550" u="none" cap="none" strike="noStrike">
                <a:solidFill>
                  <a:srgbClr val="16161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0.845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1"/>
          <p:cNvSpPr/>
          <p:nvPr/>
        </p:nvSpPr>
        <p:spPr>
          <a:xfrm>
            <a:off x="11585049" y="4051882"/>
            <a:ext cx="5350401" cy="2238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Inter"/>
              <a:buNone/>
            </a:pPr>
            <a:r>
              <a:rPr b="0" i="0" lang="en-US" sz="12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macro ROC-AUC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1"/>
          <p:cNvSpPr/>
          <p:nvPr/>
        </p:nvSpPr>
        <p:spPr>
          <a:xfrm>
            <a:off x="1352550" y="4523370"/>
            <a:ext cx="15582900" cy="9525"/>
          </a:xfrm>
          <a:prstGeom prst="rect">
            <a:avLst/>
          </a:prstGeom>
          <a:solidFill>
            <a:srgbClr val="E7E7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1"/>
          <p:cNvSpPr/>
          <p:nvPr/>
        </p:nvSpPr>
        <p:spPr>
          <a:xfrm>
            <a:off x="1352550" y="4911514"/>
            <a:ext cx="742950" cy="48101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C7D2"/>
              </a:buClr>
              <a:buSzPts val="2550"/>
              <a:buFont typeface="Source Serif 4"/>
              <a:buNone/>
            </a:pPr>
            <a:r>
              <a:rPr b="0" i="0" lang="en-US" sz="2550" u="none" cap="none" strike="noStrike">
                <a:solidFill>
                  <a:srgbClr val="C7C7D2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02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1"/>
          <p:cNvSpPr/>
          <p:nvPr/>
        </p:nvSpPr>
        <p:spPr>
          <a:xfrm>
            <a:off x="2019300" y="4880557"/>
            <a:ext cx="5350319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875"/>
              <a:buFont typeface="Inter"/>
              <a:buNone/>
            </a:pPr>
            <a:r>
              <a:rPr b="1" i="0" lang="en-US" sz="187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Cross-attack transfer</a:t>
            </a:r>
            <a:endParaRPr b="0" i="0" sz="18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1"/>
          <p:cNvSpPr/>
          <p:nvPr/>
        </p:nvSpPr>
        <p:spPr>
          <a:xfrm>
            <a:off x="2019300" y="5223457"/>
            <a:ext cx="5350319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1050"/>
              <a:buFont typeface="Inter"/>
              <a:buNone/>
            </a:pPr>
            <a:r>
              <a:rPr b="1" i="0" lang="en-US" sz="1050" u="none" cap="none" strike="noStrike">
                <a:solidFill>
                  <a:srgbClr val="4F46B8"/>
                </a:solidFill>
                <a:latin typeface="Inter"/>
                <a:ea typeface="Inter"/>
                <a:cs typeface="Inter"/>
                <a:sym typeface="Inter"/>
              </a:rPr>
              <a:t>THRESHOLDS FROZEN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1"/>
          <p:cNvSpPr/>
          <p:nvPr/>
        </p:nvSpPr>
        <p:spPr>
          <a:xfrm>
            <a:off x="6883226" y="5016289"/>
            <a:ext cx="5707045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Inter"/>
              <a:buNone/>
            </a:pPr>
            <a:r>
              <a:rPr b="0" i="0" lang="en-US" sz="15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Unseen insider attack, no re-tuning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1"/>
          <p:cNvSpPr/>
          <p:nvPr/>
        </p:nvSpPr>
        <p:spPr>
          <a:xfrm>
            <a:off x="11585049" y="4818645"/>
            <a:ext cx="5350401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2550"/>
              <a:buFont typeface="JetBrains Mono"/>
              <a:buNone/>
            </a:pPr>
            <a:r>
              <a:rPr b="0" i="0" lang="en-US" sz="2550" u="none" cap="none" strike="noStrike">
                <a:solidFill>
                  <a:srgbClr val="16161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0.9987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1"/>
          <p:cNvSpPr/>
          <p:nvPr/>
        </p:nvSpPr>
        <p:spPr>
          <a:xfrm>
            <a:off x="11585049" y="5261557"/>
            <a:ext cx="5350401" cy="2238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Inter"/>
              <a:buNone/>
            </a:pPr>
            <a:r>
              <a:rPr b="0" i="0" lang="en-US" sz="12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ROC · 100% recall @1% FPR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1"/>
          <p:cNvSpPr/>
          <p:nvPr/>
        </p:nvSpPr>
        <p:spPr>
          <a:xfrm>
            <a:off x="1352550" y="5733045"/>
            <a:ext cx="15582900" cy="9525"/>
          </a:xfrm>
          <a:prstGeom prst="rect">
            <a:avLst/>
          </a:prstGeom>
          <a:solidFill>
            <a:srgbClr val="E7E7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1"/>
          <p:cNvSpPr/>
          <p:nvPr/>
        </p:nvSpPr>
        <p:spPr>
          <a:xfrm>
            <a:off x="1352550" y="6121189"/>
            <a:ext cx="742950" cy="48101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C7D2"/>
              </a:buClr>
              <a:buSzPts val="2550"/>
              <a:buFont typeface="Source Serif 4"/>
              <a:buNone/>
            </a:pPr>
            <a:r>
              <a:rPr b="0" i="0" lang="en-US" sz="2550" u="none" cap="none" strike="noStrike">
                <a:solidFill>
                  <a:srgbClr val="C7C7D2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03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1"/>
          <p:cNvSpPr/>
          <p:nvPr/>
        </p:nvSpPr>
        <p:spPr>
          <a:xfrm>
            <a:off x="2019300" y="6090232"/>
            <a:ext cx="5350319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875"/>
              <a:buFont typeface="Inter"/>
              <a:buNone/>
            </a:pPr>
            <a:r>
              <a:rPr b="1" i="0" lang="en-US" sz="187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In-domain APT</a:t>
            </a:r>
            <a:endParaRPr b="0" i="0" sz="18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1"/>
          <p:cNvSpPr/>
          <p:nvPr/>
        </p:nvSpPr>
        <p:spPr>
          <a:xfrm>
            <a:off x="2019300" y="6433132"/>
            <a:ext cx="5350319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46B8"/>
              </a:buClr>
              <a:buSzPts val="1050"/>
              <a:buFont typeface="Inter"/>
              <a:buNone/>
            </a:pPr>
            <a:r>
              <a:rPr b="1" i="0" lang="en-US" sz="1050" u="none" cap="none" strike="noStrike">
                <a:solidFill>
                  <a:srgbClr val="4F46B8"/>
                </a:solidFill>
                <a:latin typeface="Inter"/>
                <a:ea typeface="Inter"/>
                <a:cs typeface="Inter"/>
                <a:sym typeface="Inter"/>
              </a:rPr>
              <a:t>THE 21-DAY SCENARIO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1"/>
          <p:cNvSpPr/>
          <p:nvPr/>
        </p:nvSpPr>
        <p:spPr>
          <a:xfrm>
            <a:off x="6883226" y="6225964"/>
            <a:ext cx="5707045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Inter"/>
              <a:buNone/>
            </a:pPr>
            <a:r>
              <a:rPr b="0" i="0" lang="en-US" sz="15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Full controlled intrusion, end to end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1"/>
          <p:cNvSpPr/>
          <p:nvPr/>
        </p:nvSpPr>
        <p:spPr>
          <a:xfrm>
            <a:off x="11585049" y="6028320"/>
            <a:ext cx="5350401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2550"/>
              <a:buFont typeface="JetBrains Mono"/>
              <a:buNone/>
            </a:pPr>
            <a:r>
              <a:rPr b="0" i="0" lang="en-US" sz="2550" u="none" cap="none" strike="noStrike">
                <a:solidFill>
                  <a:srgbClr val="16161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0.9988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1"/>
          <p:cNvSpPr/>
          <p:nvPr/>
        </p:nvSpPr>
        <p:spPr>
          <a:xfrm>
            <a:off x="11585049" y="6471232"/>
            <a:ext cx="5350401" cy="2238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Inter"/>
              <a:buNone/>
            </a:pPr>
            <a:r>
              <a:rPr b="0" i="0" lang="en-US" sz="12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ROC · 13/13 in one incident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1"/>
          <p:cNvSpPr/>
          <p:nvPr/>
        </p:nvSpPr>
        <p:spPr>
          <a:xfrm>
            <a:off x="914400" y="7288434"/>
            <a:ext cx="11759487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913"/>
              </a:lnSpc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425"/>
              <a:buFont typeface="Inter"/>
              <a:buNone/>
            </a:pPr>
            <a:r>
              <a:rPr b="0" i="0" lang="en-US" sz="1425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Near-perfect in-domain reflects a clean, controlled scenario — which is exactly why the external and frozen-threshold numbers are reported first.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8FA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2"/>
          <p:cNvSpPr/>
          <p:nvPr/>
        </p:nvSpPr>
        <p:spPr>
          <a:xfrm>
            <a:off x="685800" y="457200"/>
            <a:ext cx="16916400" cy="7048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2"/>
          <p:cNvSpPr/>
          <p:nvPr/>
        </p:nvSpPr>
        <p:spPr>
          <a:xfrm>
            <a:off x="1028700" y="659606"/>
            <a:ext cx="1168971" cy="3381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950"/>
              <a:buFont typeface="Inter"/>
              <a:buNone/>
            </a:pPr>
            <a:r>
              <a:rPr b="1" i="0" lang="en-US" sz="195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PRAHARÍ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2"/>
          <p:cNvSpPr/>
          <p:nvPr/>
        </p:nvSpPr>
        <p:spPr>
          <a:xfrm>
            <a:off x="2331021" y="685800"/>
            <a:ext cx="9525" cy="247650"/>
          </a:xfrm>
          <a:prstGeom prst="rect">
            <a:avLst/>
          </a:prstGeom>
          <a:solidFill>
            <a:srgbClr val="E7E7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12"/>
          <p:cNvSpPr/>
          <p:nvPr/>
        </p:nvSpPr>
        <p:spPr>
          <a:xfrm>
            <a:off x="2550096" y="723900"/>
            <a:ext cx="301973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25"/>
              <a:buFont typeface="Inter"/>
              <a:buNone/>
            </a:pPr>
            <a:r>
              <a:rPr b="1" i="0" lang="en-US" sz="1125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SOVEREIGN CYBER-RESILIENCE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2"/>
          <p:cNvSpPr/>
          <p:nvPr/>
        </p:nvSpPr>
        <p:spPr>
          <a:xfrm>
            <a:off x="16539195" y="695325"/>
            <a:ext cx="79630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 / 12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2"/>
          <p:cNvSpPr/>
          <p:nvPr/>
        </p:nvSpPr>
        <p:spPr>
          <a:xfrm>
            <a:off x="914400" y="1428750"/>
            <a:ext cx="18105120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500"/>
              <a:buFont typeface="Inter"/>
              <a:buNone/>
            </a:pPr>
            <a:r>
              <a:rPr b="1" i="0" lang="en-US" sz="15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TRUST &amp; SCALE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2"/>
          <p:cNvSpPr/>
          <p:nvPr/>
        </p:nvSpPr>
        <p:spPr>
          <a:xfrm>
            <a:off x="914400" y="1776413"/>
            <a:ext cx="18105120" cy="61413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545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4200"/>
              <a:buFont typeface="Source Serif 4"/>
              <a:buNone/>
            </a:pPr>
            <a:r>
              <a:rPr b="0" i="0" lang="en-US" sz="4200" u="none" cap="none" strike="noStrike">
                <a:solidFill>
                  <a:srgbClr val="16161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Trustworthy at scale.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2"/>
          <p:cNvSpPr/>
          <p:nvPr/>
        </p:nvSpPr>
        <p:spPr>
          <a:xfrm>
            <a:off x="914400" y="2733929"/>
            <a:ext cx="6886947" cy="6753448"/>
          </a:xfrm>
          <a:prstGeom prst="roundRect">
            <a:avLst>
              <a:gd fmla="val 3949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2"/>
          <p:cNvSpPr/>
          <p:nvPr/>
        </p:nvSpPr>
        <p:spPr>
          <a:xfrm>
            <a:off x="1333500" y="5084297"/>
            <a:ext cx="6230209" cy="1352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66909"/>
              </a:lnSpc>
              <a:spcBef>
                <a:spcPts val="0"/>
              </a:spcBef>
              <a:spcAft>
                <a:spcPts val="0"/>
              </a:spcAft>
              <a:buClr>
                <a:srgbClr val="8A6A3E"/>
              </a:buClr>
              <a:buSzPts val="11250"/>
              <a:buFont typeface="Source Serif 4"/>
              <a:buNone/>
            </a:pPr>
            <a:r>
              <a:rPr b="0" i="0" lang="en-US" sz="11250" u="none" cap="none" strike="noStrike">
                <a:solidFill>
                  <a:srgbClr val="8A6A3E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~54k</a:t>
            </a:r>
            <a:endParaRPr b="0" i="0" sz="1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2"/>
          <p:cNvSpPr/>
          <p:nvPr/>
        </p:nvSpPr>
        <p:spPr>
          <a:xfrm>
            <a:off x="1333500" y="6474947"/>
            <a:ext cx="6653622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2250"/>
              <a:buFont typeface="Inter"/>
              <a:buNone/>
            </a:pPr>
            <a:r>
              <a:rPr b="1" i="0" lang="en-US" sz="225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events / second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2"/>
          <p:cNvSpPr/>
          <p:nvPr/>
        </p:nvSpPr>
        <p:spPr>
          <a:xfrm>
            <a:off x="1333500" y="6894047"/>
            <a:ext cx="6653622" cy="28098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575"/>
              <a:buFont typeface="Inter"/>
              <a:buNone/>
            </a:pPr>
            <a:r>
              <a:rPr b="0" i="0" lang="en-US" sz="1575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end-to-end throughput · on a single core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2"/>
          <p:cNvSpPr/>
          <p:nvPr/>
        </p:nvSpPr>
        <p:spPr>
          <a:xfrm>
            <a:off x="8220447" y="2736251"/>
            <a:ext cx="9153153" cy="6753448"/>
          </a:xfrm>
          <a:prstGeom prst="roundRect">
            <a:avLst>
              <a:gd fmla="val 3949" name="adj"/>
            </a:avLst>
          </a:prstGeom>
          <a:solidFill>
            <a:srgbClr val="FFFFFF">
              <a:alpha val="98824"/>
            </a:srgbClr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12"/>
          <p:cNvSpPr/>
          <p:nvPr/>
        </p:nvSpPr>
        <p:spPr>
          <a:xfrm>
            <a:off x="8620497" y="4865162"/>
            <a:ext cx="419100" cy="419100"/>
          </a:xfrm>
          <a:prstGeom prst="ellipse">
            <a:avLst/>
          </a:prstGeom>
          <a:solidFill>
            <a:srgbClr val="059669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12"/>
          <p:cNvSpPr/>
          <p:nvPr/>
        </p:nvSpPr>
        <p:spPr>
          <a:xfrm>
            <a:off x="8582397" y="4865162"/>
            <a:ext cx="4953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800"/>
              <a:buFont typeface="Inter"/>
              <a:buNone/>
            </a:pPr>
            <a:r>
              <a:rPr b="0" i="0" lang="en-US" sz="1800" u="none" cap="none" strike="noStrike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2"/>
          <p:cNvSpPr/>
          <p:nvPr/>
        </p:nvSpPr>
        <p:spPr>
          <a:xfrm>
            <a:off x="9249147" y="4808012"/>
            <a:ext cx="3822159" cy="31908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800"/>
              <a:buFont typeface="Inter"/>
              <a:buNone/>
            </a:pPr>
            <a:r>
              <a:rPr b="1" i="0" lang="en-US" sz="180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Tamper-evident hash chain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2"/>
          <p:cNvSpPr/>
          <p:nvPr/>
        </p:nvSpPr>
        <p:spPr>
          <a:xfrm>
            <a:off x="9249147" y="5136625"/>
            <a:ext cx="3822159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JetBrains Mono"/>
              <a:buNone/>
            </a:pPr>
            <a:r>
              <a:rPr b="0" i="0" lang="en-US" sz="1200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10-entry chain · verify_chain() passes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2"/>
          <p:cNvSpPr/>
          <p:nvPr/>
        </p:nvSpPr>
        <p:spPr>
          <a:xfrm>
            <a:off x="8620497" y="5589062"/>
            <a:ext cx="8353053" cy="9525"/>
          </a:xfrm>
          <a:prstGeom prst="rect">
            <a:avLst/>
          </a:prstGeom>
          <a:solidFill>
            <a:srgbClr val="E7E7EC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2"/>
          <p:cNvSpPr/>
          <p:nvPr/>
        </p:nvSpPr>
        <p:spPr>
          <a:xfrm>
            <a:off x="8620497" y="5903387"/>
            <a:ext cx="419100" cy="419100"/>
          </a:xfrm>
          <a:prstGeom prst="ellipse">
            <a:avLst/>
          </a:prstGeom>
          <a:solidFill>
            <a:srgbClr val="059669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2"/>
          <p:cNvSpPr/>
          <p:nvPr/>
        </p:nvSpPr>
        <p:spPr>
          <a:xfrm>
            <a:off x="8582397" y="5903387"/>
            <a:ext cx="4953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800"/>
              <a:buFont typeface="Inter"/>
              <a:buNone/>
            </a:pPr>
            <a:r>
              <a:rPr b="0" i="0" lang="en-US" sz="1800" u="none" cap="none" strike="noStrike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2"/>
          <p:cNvSpPr/>
          <p:nvPr/>
        </p:nvSpPr>
        <p:spPr>
          <a:xfrm>
            <a:off x="9249147" y="5846237"/>
            <a:ext cx="3220931" cy="31908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800"/>
              <a:buFont typeface="Inter"/>
              <a:buNone/>
            </a:pPr>
            <a:r>
              <a:rPr b="1" i="0" lang="en-US" sz="180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Zero-egress air-gap mode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2"/>
          <p:cNvSpPr/>
          <p:nvPr/>
        </p:nvSpPr>
        <p:spPr>
          <a:xfrm>
            <a:off x="9249147" y="6174850"/>
            <a:ext cx="3220931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JetBrains Mono"/>
              <a:buNone/>
            </a:pPr>
            <a:r>
              <a:rPr b="0" i="0" lang="en-US" sz="1200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PRAHARI_OFFLINE=1 · proven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2"/>
          <p:cNvSpPr/>
          <p:nvPr/>
        </p:nvSpPr>
        <p:spPr>
          <a:xfrm>
            <a:off x="8620497" y="6627287"/>
            <a:ext cx="8353053" cy="9525"/>
          </a:xfrm>
          <a:prstGeom prst="rect">
            <a:avLst/>
          </a:prstGeom>
          <a:solidFill>
            <a:srgbClr val="E7E7EC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2"/>
          <p:cNvSpPr/>
          <p:nvPr/>
        </p:nvSpPr>
        <p:spPr>
          <a:xfrm>
            <a:off x="8620497" y="6941612"/>
            <a:ext cx="419100" cy="419100"/>
          </a:xfrm>
          <a:prstGeom prst="ellipse">
            <a:avLst/>
          </a:prstGeom>
          <a:solidFill>
            <a:srgbClr val="059669">
              <a:alpha val="1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12"/>
          <p:cNvSpPr/>
          <p:nvPr/>
        </p:nvSpPr>
        <p:spPr>
          <a:xfrm>
            <a:off x="8582397" y="6941612"/>
            <a:ext cx="4953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800"/>
              <a:buFont typeface="Inter"/>
              <a:buNone/>
            </a:pPr>
            <a:r>
              <a:rPr b="0" i="0" lang="en-US" sz="1800" u="none" cap="none" strike="noStrike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✓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2"/>
          <p:cNvSpPr/>
          <p:nvPr/>
        </p:nvSpPr>
        <p:spPr>
          <a:xfrm>
            <a:off x="9249147" y="6884462"/>
            <a:ext cx="5632720" cy="31908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800"/>
              <a:buFont typeface="Inter"/>
              <a:buNone/>
            </a:pPr>
            <a:r>
              <a:rPr b="1" i="0" lang="en-US" sz="180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Ground truth is never a model input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2"/>
          <p:cNvSpPr/>
          <p:nvPr/>
        </p:nvSpPr>
        <p:spPr>
          <a:xfrm>
            <a:off x="9249147" y="7213075"/>
            <a:ext cx="5632720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200"/>
              <a:buFont typeface="JetBrains Mono"/>
              <a:buNone/>
            </a:pPr>
            <a:r>
              <a:rPr b="0" i="0" lang="en-US" sz="1200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assert_no_leakage · API strips gt_* · </a:t>
            </a:r>
            <a:r>
              <a:rPr b="0" i="0" lang="en-US" sz="1200" u="none" cap="none" strike="noStrike">
                <a:solidFill>
                  <a:srgbClr val="05966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0/8 endpoints leak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TextBox 379"/>
          <p:cNvSpPr txBox="1"/>
          <p:nvPr/>
        </p:nvSpPr>
        <p:spPr>
          <a:xfrm>
            <a:off x="1335024" y="3429000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75" b="1">
                <a:solidFill>
                  <a:srgbClr val="B45309"/>
                </a:solidFill>
                <a:latin typeface="Inter"/>
              </a:rPr>
              <a:t>THROUGHPUT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1335024" y="7452360"/>
            <a:ext cx="6309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B5563"/>
                </a:solidFill>
                <a:latin typeface="Inter"/>
              </a:rPr>
              <a:t>O(1) per event — scales with cores, not luck.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9CA3AF"/>
                </a:solidFill>
                <a:latin typeface="JetBrains Mono"/>
              </a:rPr>
              <a:t>detector core 158k/s · Neo4j ingest 53.5k nodes/s · 2.5 GB peak RSS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8622792" y="34290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75" b="1">
                <a:solidFill>
                  <a:srgbClr val="B45309"/>
                </a:solidFill>
                <a:latin typeface="Inter"/>
              </a:rPr>
              <a:t>GUARANTEES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8586216" y="781812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59669"/>
                </a:solidFill>
                <a:latin typeface="Inter"/>
              </a:rPr>
              <a:t>✓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9244584" y="77724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61D"/>
                </a:solidFill>
                <a:latin typeface="Inter"/>
              </a:rPr>
              <a:t>Human holds the gate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9CA3AF"/>
                </a:solidFill>
                <a:latin typeface="JetBrains Mono"/>
              </a:rPr>
              <a:t>agents only propose · the platform decides blast radius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8FA"/>
        </a:soli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3"/>
          <p:cNvSpPr/>
          <p:nvPr/>
        </p:nvSpPr>
        <p:spPr>
          <a:xfrm>
            <a:off x="685800" y="457200"/>
            <a:ext cx="16916400" cy="70485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3"/>
          <p:cNvSpPr/>
          <p:nvPr/>
        </p:nvSpPr>
        <p:spPr>
          <a:xfrm>
            <a:off x="1028700" y="659606"/>
            <a:ext cx="1168971" cy="3381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950"/>
              <a:buFont typeface="Inter"/>
              <a:buNone/>
            </a:pPr>
            <a:r>
              <a:rPr b="1" i="0" lang="en-US" sz="1950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PRAHARÍ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3"/>
          <p:cNvSpPr/>
          <p:nvPr/>
        </p:nvSpPr>
        <p:spPr>
          <a:xfrm>
            <a:off x="2331021" y="685800"/>
            <a:ext cx="9525" cy="247650"/>
          </a:xfrm>
          <a:prstGeom prst="rect">
            <a:avLst/>
          </a:prstGeom>
          <a:solidFill>
            <a:srgbClr val="E7E7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13"/>
          <p:cNvSpPr/>
          <p:nvPr/>
        </p:nvSpPr>
        <p:spPr>
          <a:xfrm>
            <a:off x="2550096" y="723900"/>
            <a:ext cx="301973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125"/>
              <a:buFont typeface="Inter"/>
              <a:buNone/>
            </a:pPr>
            <a:r>
              <a:rPr b="1" i="0" lang="en-US" sz="1125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SOVEREIGN CYBER-RESILIENCE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3"/>
          <p:cNvSpPr/>
          <p:nvPr/>
        </p:nvSpPr>
        <p:spPr>
          <a:xfrm>
            <a:off x="16539195" y="695325"/>
            <a:ext cx="79630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9CA3A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11 / 12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3"/>
          <p:cNvSpPr/>
          <p:nvPr/>
        </p:nvSpPr>
        <p:spPr>
          <a:xfrm>
            <a:off x="914400" y="1428750"/>
            <a:ext cx="18105120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500"/>
              <a:buFont typeface="Inter"/>
              <a:buNone/>
            </a:pPr>
            <a:r>
              <a:rPr b="1" i="0" lang="en-US" sz="15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HONEST LIMITATIONS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3"/>
          <p:cNvSpPr/>
          <p:nvPr/>
        </p:nvSpPr>
        <p:spPr>
          <a:xfrm>
            <a:off x="914400" y="1776413"/>
            <a:ext cx="18105120" cy="61413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545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4200"/>
              <a:buFont typeface="Source Serif 4"/>
              <a:buNone/>
            </a:pPr>
            <a:r>
              <a:rPr b="0" i="0" lang="en-US" sz="4200" u="none" cap="none" strike="noStrike">
                <a:solidFill>
                  <a:srgbClr val="16161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We report what didn’t move, too.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3"/>
          <p:cNvSpPr/>
          <p:nvPr/>
        </p:nvSpPr>
        <p:spPr>
          <a:xfrm>
            <a:off x="914400" y="2772029"/>
            <a:ext cx="5308550" cy="6715348"/>
          </a:xfrm>
          <a:prstGeom prst="roundRect">
            <a:avLst>
              <a:gd fmla="val 5024" name="adj"/>
            </a:avLst>
          </a:prstGeom>
          <a:solidFill>
            <a:srgbClr val="FFFFFF"/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13"/>
          <p:cNvSpPr/>
          <p:nvPr/>
        </p:nvSpPr>
        <p:spPr>
          <a:xfrm>
            <a:off x="1276350" y="3133979"/>
            <a:ext cx="1206029" cy="280988"/>
          </a:xfrm>
          <a:prstGeom prst="roundRect">
            <a:avLst>
              <a:gd fmla="val 50000" name="adj"/>
            </a:avLst>
          </a:prstGeom>
          <a:solidFill>
            <a:srgbClr val="B45309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3"/>
          <p:cNvSpPr/>
          <p:nvPr/>
        </p:nvSpPr>
        <p:spPr>
          <a:xfrm>
            <a:off x="1428750" y="3200654"/>
            <a:ext cx="977429" cy="1857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975"/>
              <a:buFont typeface="Inter"/>
              <a:buNone/>
            </a:pPr>
            <a:r>
              <a:rPr b="1" i="0" lang="en-US" sz="975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KNOWN GAP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3"/>
          <p:cNvSpPr/>
          <p:nvPr/>
        </p:nvSpPr>
        <p:spPr>
          <a:xfrm>
            <a:off x="1276350" y="3643567"/>
            <a:ext cx="4722190" cy="6552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9692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2025"/>
              <a:buFont typeface="Inter"/>
              <a:buNone/>
            </a:pPr>
            <a:r>
              <a:rPr b="1" i="0" lang="en-US" sz="20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Attribution generalises less than detection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3"/>
          <p:cNvSpPr/>
          <p:nvPr/>
        </p:nvSpPr>
        <p:spPr>
          <a:xfrm>
            <a:off x="1276350" y="4413157"/>
            <a:ext cx="472219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6531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Inter"/>
              <a:buNone/>
            </a:pPr>
            <a:r>
              <a:rPr b="0" i="0" lang="en-US" sz="15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Mapping technique IDs across unseen tactics is the harder half of the problem.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3"/>
          <p:cNvSpPr/>
          <p:nvPr/>
        </p:nvSpPr>
        <p:spPr>
          <a:xfrm>
            <a:off x="6489650" y="2774352"/>
            <a:ext cx="5308625" cy="6715348"/>
          </a:xfrm>
          <a:prstGeom prst="roundRect">
            <a:avLst>
              <a:gd fmla="val 5024" name="adj"/>
            </a:avLst>
          </a:prstGeom>
          <a:solidFill>
            <a:srgbClr val="FFFFFF">
              <a:alpha val="98824"/>
            </a:srgbClr>
          </a:solidFill>
          <a:ln>
            <a:noFill/>
          </a:ln>
          <a:effectLst>
            <a:outerShdw blurRad="28575" rotWithShape="0" algn="bl" dir="5400000" dist="9525">
              <a:srgbClr val="111827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3"/>
          <p:cNvSpPr/>
          <p:nvPr/>
        </p:nvSpPr>
        <p:spPr>
          <a:xfrm>
            <a:off x="6851600" y="3136302"/>
            <a:ext cx="1206029" cy="280987"/>
          </a:xfrm>
          <a:prstGeom prst="roundRect">
            <a:avLst>
              <a:gd fmla="val 50000" name="adj"/>
            </a:avLst>
          </a:prstGeom>
          <a:solidFill>
            <a:srgbClr val="B45309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3"/>
          <p:cNvSpPr/>
          <p:nvPr/>
        </p:nvSpPr>
        <p:spPr>
          <a:xfrm>
            <a:off x="7004000" y="3202977"/>
            <a:ext cx="977429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975"/>
              <a:buFont typeface="Inter"/>
              <a:buNone/>
            </a:pPr>
            <a:r>
              <a:rPr b="1" i="0" lang="en-US" sz="975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KNOWN GAP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3"/>
          <p:cNvSpPr/>
          <p:nvPr/>
        </p:nvSpPr>
        <p:spPr>
          <a:xfrm>
            <a:off x="6851600" y="3645890"/>
            <a:ext cx="5043197" cy="34669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9692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2025"/>
              <a:buFont typeface="Inter"/>
              <a:buNone/>
            </a:pPr>
            <a:r>
              <a:rPr b="1" i="0" lang="en-US" sz="20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Off-hours evasion lowers recall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3"/>
          <p:cNvSpPr/>
          <p:nvPr/>
        </p:nvSpPr>
        <p:spPr>
          <a:xfrm>
            <a:off x="6851600" y="4106885"/>
            <a:ext cx="4722267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6531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Inter"/>
              <a:buNone/>
            </a:pPr>
            <a:r>
              <a:rPr b="0" i="0" lang="en-US" sz="15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Under the evasion profile, detection ROC still holds </a:t>
            </a:r>
            <a:r>
              <a:rPr b="0" i="0" lang="en-US" sz="1350" u="none" cap="none" strike="noStrike">
                <a:solidFill>
                  <a:srgbClr val="16161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~0.92</a:t>
            </a:r>
            <a:r>
              <a:rPr b="0" i="0" lang="en-US" sz="15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3"/>
          <p:cNvSpPr/>
          <p:nvPr/>
        </p:nvSpPr>
        <p:spPr>
          <a:xfrm>
            <a:off x="12064975" y="2779509"/>
            <a:ext cx="5308550" cy="6715348"/>
          </a:xfrm>
          <a:prstGeom prst="roundRect">
            <a:avLst>
              <a:gd fmla="val 5024" name="adj"/>
            </a:avLst>
          </a:prstGeom>
          <a:solidFill>
            <a:srgbClr val="FFFFFF">
              <a:alpha val="96078"/>
            </a:srgbClr>
          </a:solidFill>
          <a:ln>
            <a:noFill/>
          </a:ln>
          <a:effectLst>
            <a:outerShdw blurRad="28575" rotWithShape="0" algn="bl" dir="5400000" dist="9525">
              <a:srgbClr val="111827">
                <a:alpha val="470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3"/>
          <p:cNvSpPr/>
          <p:nvPr/>
        </p:nvSpPr>
        <p:spPr>
          <a:xfrm>
            <a:off x="12426925" y="3141459"/>
            <a:ext cx="1268090" cy="280988"/>
          </a:xfrm>
          <a:prstGeom prst="roundRect">
            <a:avLst>
              <a:gd fmla="val 50000" name="adj"/>
            </a:avLst>
          </a:prstGeom>
          <a:solidFill>
            <a:srgbClr val="B45309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13"/>
          <p:cNvSpPr/>
          <p:nvPr/>
        </p:nvSpPr>
        <p:spPr>
          <a:xfrm>
            <a:off x="12579325" y="3208134"/>
            <a:ext cx="1039490" cy="1857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975"/>
              <a:buFont typeface="Inter"/>
              <a:buNone/>
            </a:pPr>
            <a:r>
              <a:rPr b="1" i="0" lang="en-US" sz="975" u="none" cap="none" strike="noStrike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IN PROGRESS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3"/>
          <p:cNvSpPr/>
          <p:nvPr/>
        </p:nvSpPr>
        <p:spPr>
          <a:xfrm>
            <a:off x="12426925" y="3651046"/>
            <a:ext cx="5043115" cy="34669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9692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2025"/>
              <a:buFont typeface="Inter"/>
              <a:buNone/>
            </a:pPr>
            <a:r>
              <a:rPr b="1" i="0" lang="en-US" sz="20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OT coverage is still improving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3"/>
          <p:cNvSpPr/>
          <p:nvPr/>
        </p:nvSpPr>
        <p:spPr>
          <a:xfrm>
            <a:off x="12426925" y="4112041"/>
            <a:ext cx="472219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6531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Inter"/>
              <a:buNone/>
            </a:pPr>
            <a:r>
              <a:rPr b="0" i="0" lang="en-US" sz="15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Operational-technology telemetry is on the roadmap, not yet complete.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80160" y="5532120"/>
            <a:ext cx="471830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0">
                <a:solidFill>
                  <a:srgbClr val="8A6A3E"/>
                </a:solidFill>
                <a:latin typeface="Source Serif 4"/>
              </a:rPr>
              <a:t>2 / 45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1280160" y="6858000"/>
            <a:ext cx="47183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4B5563"/>
                </a:solidFill>
                <a:latin typeface="Inter"/>
              </a:rPr>
              <a:t>techniques the deterministic mapper recovers on the unseen insider case — vs 12/13 in-domain. The stable, reproducible number is 92.3%.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6848856" y="5532120"/>
            <a:ext cx="471830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0">
                <a:solidFill>
                  <a:srgbClr val="8A6A3E"/>
                </a:solidFill>
                <a:latin typeface="Source Serif 4"/>
              </a:rPr>
              <a:t>13%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848856" y="6858000"/>
            <a:ext cx="47183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4B5563"/>
                </a:solidFill>
                <a:latin typeface="Inter"/>
              </a:rPr>
              <a:t>recall @1% FPR once the attacker evades off-hours signals. But detection ROC still holds 0.92, and recall @5% FPR is 80%.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2426696" y="5532120"/>
            <a:ext cx="471830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0">
                <a:solidFill>
                  <a:srgbClr val="8A6A3E"/>
                </a:solidFill>
                <a:latin typeface="Source Serif 4"/>
              </a:rPr>
              <a:t>0.84 → 0.895</a:t>
            </a:r>
          </a:p>
        </p:txBody>
      </p:sp>
      <p:sp>
        <p:nvSpPr>
          <p:cNvPr id="412" name="TextBox 411"/>
          <p:cNvSpPr txBox="1"/>
          <p:nvPr/>
        </p:nvSpPr>
        <p:spPr>
          <a:xfrm>
            <a:off x="12426696" y="6858000"/>
            <a:ext cx="47183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4B5563"/>
                </a:solidFill>
                <a:latin typeface="Inter"/>
              </a:rPr>
              <a:t>Modbus OT ROC after adding OT-native features — malicious writes alarmed 8/16 → 13/16. Some ICS techniques stay outside the enterprise mapper.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E3E1F4"/>
              </a:gs>
              <a:gs pos="42000">
                <a:srgbClr val="EDECF6"/>
              </a:gs>
              <a:gs pos="74000">
                <a:srgbClr val="F8F8FA"/>
              </a:gs>
              <a:gs pos="100000">
                <a:srgbClr val="F8F8FA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14"/>
          <p:cNvSpPr/>
          <p:nvPr/>
        </p:nvSpPr>
        <p:spPr>
          <a:xfrm>
            <a:off x="8538493" y="3026420"/>
            <a:ext cx="1211014" cy="3476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2025"/>
              <a:buFont typeface="Inter"/>
              <a:buNone/>
            </a:pPr>
            <a:r>
              <a:rPr b="1" i="0" lang="en-US" sz="20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PRAHARÍ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4"/>
          <p:cNvSpPr/>
          <p:nvPr/>
        </p:nvSpPr>
        <p:spPr>
          <a:xfrm>
            <a:off x="4846739" y="3660613"/>
            <a:ext cx="8594447" cy="189577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77091"/>
              </a:lnSpc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6900"/>
              <a:buFont typeface="Source Serif 4"/>
              <a:buNone/>
            </a:pPr>
            <a:r>
              <a:rPr b="0" i="0" lang="en-US" sz="6900" u="none" cap="none" strike="noStrike">
                <a:solidFill>
                  <a:srgbClr val="16161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Detection in </a:t>
            </a:r>
            <a:r>
              <a:rPr b="0" i="0" lang="en-US" sz="6900" u="none" cap="none" strike="noStrike">
                <a:solidFill>
                  <a:srgbClr val="059669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hours</a:t>
            </a:r>
            <a:r>
              <a:rPr b="0" i="0" lang="en-US" sz="6900" u="none" cap="none" strike="noStrike">
                <a:solidFill>
                  <a:srgbClr val="16161D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, not months.</a:t>
            </a:r>
            <a:endParaRPr b="0" i="0" sz="6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4"/>
          <p:cNvSpPr/>
          <p:nvPr/>
        </p:nvSpPr>
        <p:spPr>
          <a:xfrm>
            <a:off x="5809134" y="5940200"/>
            <a:ext cx="2430363" cy="495300"/>
          </a:xfrm>
          <a:prstGeom prst="roundRect">
            <a:avLst>
              <a:gd fmla="val 50000" name="adj"/>
            </a:avLst>
          </a:prstGeom>
          <a:solidFill>
            <a:srgbClr val="FFFFFF">
              <a:alpha val="98039"/>
            </a:srgbClr>
          </a:solidFill>
          <a:ln cap="flat" cmpd="sng" w="14275">
            <a:solidFill>
              <a:srgbClr val="D8DBE2">
                <a:alpha val="9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4"/>
          <p:cNvSpPr/>
          <p:nvPr/>
        </p:nvSpPr>
        <p:spPr>
          <a:xfrm>
            <a:off x="6032971" y="6078313"/>
            <a:ext cx="1982688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425"/>
              <a:buFont typeface="Inter"/>
              <a:buNone/>
            </a:pPr>
            <a:r>
              <a:rPr b="1" i="0" lang="en-US" sz="14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Behavioural detection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4"/>
          <p:cNvSpPr/>
          <p:nvPr/>
        </p:nvSpPr>
        <p:spPr>
          <a:xfrm>
            <a:off x="8391897" y="5940200"/>
            <a:ext cx="1651769" cy="495300"/>
          </a:xfrm>
          <a:prstGeom prst="roundRect">
            <a:avLst>
              <a:gd fmla="val 50000" name="adj"/>
            </a:avLst>
          </a:prstGeom>
          <a:solidFill>
            <a:srgbClr val="FFFFFF">
              <a:alpha val="98039"/>
            </a:srgbClr>
          </a:solidFill>
          <a:ln cap="flat" cmpd="sng" w="14275">
            <a:solidFill>
              <a:srgbClr val="D8DBE2">
                <a:alpha val="9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4"/>
          <p:cNvSpPr/>
          <p:nvPr/>
        </p:nvSpPr>
        <p:spPr>
          <a:xfrm>
            <a:off x="8615735" y="6078313"/>
            <a:ext cx="1204094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425"/>
              <a:buFont typeface="Inter"/>
              <a:buNone/>
            </a:pPr>
            <a:r>
              <a:rPr b="1" i="0" lang="en-US" sz="14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Graph fusion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4"/>
          <p:cNvSpPr/>
          <p:nvPr/>
        </p:nvSpPr>
        <p:spPr>
          <a:xfrm>
            <a:off x="10196066" y="5940200"/>
            <a:ext cx="2282726" cy="495300"/>
          </a:xfrm>
          <a:prstGeom prst="roundRect">
            <a:avLst>
              <a:gd fmla="val 50000" name="adj"/>
            </a:avLst>
          </a:prstGeom>
          <a:solidFill>
            <a:srgbClr val="FFFFFF">
              <a:alpha val="98039"/>
            </a:srgbClr>
          </a:solidFill>
          <a:ln cap="flat" cmpd="sng" w="14275">
            <a:solidFill>
              <a:srgbClr val="D8DBE2">
                <a:alpha val="9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14"/>
          <p:cNvSpPr/>
          <p:nvPr/>
        </p:nvSpPr>
        <p:spPr>
          <a:xfrm>
            <a:off x="10419904" y="6078313"/>
            <a:ext cx="1835051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1425"/>
              <a:buFont typeface="Inter"/>
              <a:buNone/>
            </a:pPr>
            <a:r>
              <a:rPr b="1" i="0" lang="en-US" sz="1425" u="none" cap="none" strike="noStrike">
                <a:solidFill>
                  <a:srgbClr val="16161D"/>
                </a:solidFill>
                <a:latin typeface="Inter"/>
                <a:ea typeface="Inter"/>
                <a:cs typeface="Inter"/>
                <a:sym typeface="Inter"/>
              </a:rPr>
              <a:t>Auditable autonomy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4"/>
          <p:cNvSpPr/>
          <p:nvPr/>
        </p:nvSpPr>
        <p:spPr>
          <a:xfrm>
            <a:off x="7175153" y="6727175"/>
            <a:ext cx="3937620" cy="542925"/>
          </a:xfrm>
          <a:prstGeom prst="roundRect">
            <a:avLst>
              <a:gd fmla="val 50000" name="adj"/>
            </a:avLst>
          </a:prstGeom>
          <a:solidFill>
            <a:srgbClr val="111827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4">
            <a:hlinkClick r:id="rId3"/>
          </p:cNvPr>
          <p:cNvSpPr/>
          <p:nvPr/>
        </p:nvSpPr>
        <p:spPr>
          <a:xfrm>
            <a:off x="7401838" y="6879575"/>
            <a:ext cx="3484249" cy="2762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25"/>
              <a:buFont typeface="JetBrains Mono"/>
              <a:buNone/>
            </a:pPr>
            <a:r>
              <a:rPr b="0" i="0" lang="en-US" sz="1425" u="sng" cap="none" strike="noStrike">
                <a:solidFill>
                  <a:schemeClr val="hlink"/>
                </a:solidFill>
                <a:latin typeface="JetBrains Mono"/>
                <a:ea typeface="JetBrains Mono"/>
                <a:cs typeface="JetBrains Mono"/>
                <a:sym typeface="JetBrains Mono"/>
                <a:hlinkClick r:id="rId4"/>
              </a:rPr>
              <a:t>github.com/Kartik-99999/prahari</a:t>
            </a:r>
            <a:endParaRPr b="0" i="0" sz="14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4"/>
          <p:cNvSpPr/>
          <p:nvPr/>
        </p:nvSpPr>
        <p:spPr>
          <a:xfrm>
            <a:off x="-274320" y="9086845"/>
            <a:ext cx="18836640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161D"/>
              </a:buClr>
              <a:buSzPts val="2250"/>
              <a:buFont typeface="Noto Serif Devanagari"/>
              <a:buNone/>
            </a:pPr>
            <a:r>
              <a:rPr b="0" i="0" lang="en-US" sz="2250" u="none" cap="none" strike="noStrike">
                <a:solidFill>
                  <a:srgbClr val="16161D"/>
                </a:solidFill>
                <a:latin typeface="Noto Serif Devanagari"/>
                <a:ea typeface="Noto Serif Devanagari"/>
                <a:cs typeface="Noto Serif Devanagari"/>
                <a:sym typeface="Noto Serif Devanagari"/>
              </a:rPr>
              <a:t>प्रहरी </a:t>
            </a:r>
            <a:r>
              <a:rPr b="0" i="0" lang="en-US" sz="1800" u="none" cap="none" strike="noStrike">
                <a:solidFill>
                  <a:srgbClr val="4B5563"/>
                </a:solidFill>
                <a:latin typeface="Noto Serif Devanagari"/>
                <a:ea typeface="Noto Serif Devanagari"/>
                <a:cs typeface="Noto Serif Devanagari"/>
                <a:sym typeface="Noto Serif Devanagari"/>
              </a:rPr>
              <a:t>— the watch never ends.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