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0" y="1828799"/>
            <a:ext cx="5806440" cy="9041963"/>
          </a:xfrm>
          <a:prstGeom prst="roundRect">
            <a:avLst>
              <a:gd name="adj" fmla="val 20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play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874519"/>
            <a:ext cx="5715000" cy="89505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828800"/>
            <a:ext cx="5120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5800" b="1">
                <a:solidFill>
                  <a:srgbClr val="E2E8F0"/>
                </a:solidFill>
                <a:latin typeface="Helvetica Neue"/>
              </a:rPr>
              <a:t>PRAHAR</a:t>
            </a:r>
            <a:r>
              <a:rPr sz="58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80360"/>
            <a:ext cx="50292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E2E8F0"/>
                </a:solidFill>
                <a:latin typeface="Helvetica Neue"/>
              </a:rPr>
              <a:t>Behavioural Cyber Resilience for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100" b="0">
                <a:solidFill>
                  <a:srgbClr val="E2E8F0"/>
                </a:solidFill>
                <a:latin typeface="Helvetica Neue"/>
              </a:rPr>
              <a:t>Critical National Infrastructure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Helvetica Neue"/>
              </a:rPr>
              <a:t>Detecting the attack while it is still a whisper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Helvetica Neue"/>
              </a:rPr>
              <a:t>compressing detection from </a:t>
            </a:r>
            <a:r>
              <a:rPr sz="1400" b="1">
                <a:solidFill>
                  <a:srgbClr val="2DD4BF"/>
                </a:solidFill>
                <a:latin typeface="Helvetica Neue"/>
              </a:rPr>
              <a:t>weeks to hours</a:t>
            </a:r>
            <a:r>
              <a:rPr sz="1400" b="0">
                <a:solidFill>
                  <a:srgbClr val="94A3B8"/>
                </a:solidFill>
                <a:latin typeface="Helvetica Neue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97480"/>
            <a:ext cx="1554480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enlo"/>
              </a:rPr>
              <a:t>AI-Driven Cyber Resilience  ·  Problem Statement #7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Our institutions are already breached — they just don’t know yet.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2697480" cy="17373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478024"/>
            <a:ext cx="2295144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EF4444"/>
                </a:solidFill>
                <a:latin typeface="Menlo"/>
              </a:rPr>
              <a:t>1.59M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cyber incidents in 2023, and climbing (CERT-In)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4992" y="2331720"/>
            <a:ext cx="2697480" cy="17373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2478024"/>
            <a:ext cx="2295144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B923C"/>
                </a:solidFill>
                <a:latin typeface="Menlo"/>
              </a:rPr>
              <a:t>2+ wks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AIIMS Delhi paralysed by ransomware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2331720"/>
            <a:ext cx="2697480" cy="17373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478024"/>
            <a:ext cx="2295144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ACC15"/>
                </a:solidFill>
                <a:latin typeface="Menlo"/>
              </a:rPr>
              <a:t>Breached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CBSE examination records exposed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97696" y="2331720"/>
            <a:ext cx="2697480" cy="17373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8864" y="2478024"/>
            <a:ext cx="2295144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B923C"/>
                </a:solidFill>
                <a:latin typeface="Menlo"/>
              </a:rPr>
              <a:t>70%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of govt entities run end-of-life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262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E2E8F0"/>
                </a:solidFill>
                <a:latin typeface="Helvetica Neue"/>
              </a:rPr>
              <a:t>The failure isn’t entry. It’s </a:t>
            </a:r>
            <a:r>
              <a:rPr sz="2000" b="1">
                <a:solidFill>
                  <a:srgbClr val="2DD4BF"/>
                </a:solidFill>
                <a:latin typeface="Helvetica Neue"/>
              </a:rPr>
              <a:t>detection speed</a:t>
            </a:r>
            <a:r>
              <a:rPr sz="2000" b="0">
                <a:solidFill>
                  <a:srgbClr val="E2E8F0"/>
                </a:solidFill>
                <a:latin typeface="Helvetica Neue"/>
              </a:rPr>
              <a:t> — advanced threats run low-and-slow to evade every signature.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THE DWELL-TIME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The average intruder hides for 200+ days.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00400"/>
            <a:ext cx="10424160" cy="73152"/>
          </a:xfrm>
          <a:prstGeom prst="rect">
            <a:avLst/>
          </a:prstGeom>
          <a:solidFill>
            <a:srgbClr val="2430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3099816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27080" y="3099816"/>
            <a:ext cx="274320" cy="27432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F4444"/>
                </a:solidFill>
                <a:latin typeface="Menlo"/>
              </a:rPr>
              <a:t>INTRUSION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Menlo"/>
              </a:rPr>
              <a:t>day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356616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ACC15"/>
                </a:solidFill>
                <a:latin typeface="Menlo"/>
              </a:rPr>
              <a:t>DISCOVERY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Menlo"/>
              </a:rPr>
              <a:t>200+ days later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6334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enlo"/>
              </a:rPr>
              <a:t>←  the attacker operates undetected 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6344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2E8F0"/>
                </a:solidFill>
                <a:latin typeface="Helvetica Neue"/>
              </a:rPr>
              <a:t>Signature-based SOCs cannot see low-and-slow APTs. </a:t>
            </a:r>
            <a:r>
              <a:rPr sz="1800" b="0">
                <a:solidFill>
                  <a:srgbClr val="94A3B8"/>
                </a:solidFill>
                <a:latin typeface="Helvetica Neue"/>
              </a:rPr>
              <a:t>By the time a signature exists, the attack has already succeeded somewhere.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OUR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Detect behaviour, not signatures.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611880" cy="26517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36118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542032"/>
            <a:ext cx="309981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Menlo"/>
              </a:rPr>
              <a:t>01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E2E8F0"/>
                </a:solidFill>
                <a:latin typeface="Helvetica Neue"/>
              </a:rPr>
              <a:t>UEBA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Helvetica Neue"/>
              </a:rPr>
              <a:t>Learn how every user, host and network segment normally behaves — then score deviation, unsupervised.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2286000"/>
            <a:ext cx="3611880" cy="26517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52544" y="2286000"/>
            <a:ext cx="3611880" cy="82296"/>
          </a:xfrm>
          <a:prstGeom prst="rect">
            <a:avLst/>
          </a:prstGeom>
          <a:solidFill>
            <a:srgbClr val="FAC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2542032"/>
            <a:ext cx="309981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ACC15"/>
                </a:solidFill>
                <a:latin typeface="Menlo"/>
              </a:rPr>
              <a:t>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E2E8F0"/>
                </a:solidFill>
                <a:latin typeface="Helvetica Neue"/>
              </a:rPr>
              <a:t>GRAPH FUSION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Helvetica Neue"/>
              </a:rPr>
              <a:t>Connect individually-ignorable weak signals into one ranked attack chain across hosts and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8" y="2286000"/>
            <a:ext cx="3611880" cy="265176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56448" y="2286000"/>
            <a:ext cx="3611880" cy="8229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542032"/>
            <a:ext cx="3099816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34D399"/>
                </a:solidFill>
                <a:latin typeface="Menlo"/>
              </a:rPr>
              <a:t>03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1">
                <a:solidFill>
                  <a:srgbClr val="E2E8F0"/>
                </a:solidFill>
                <a:latin typeface="Helvetica Neue"/>
              </a:rPr>
              <a:t>AGENTIC AI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Helvetica Neue"/>
              </a:rPr>
              <a:t>Claude agents map to MITRE ATT&amp;CK, predict the next move, and orchestrate response.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One closed loop, fully auditable.</a:t>
            </a:r>
          </a:p>
        </p:txBody>
      </p:sp>
      <p:sp>
        <p:nvSpPr>
          <p:cNvPr id="5" name="Chevron 4"/>
          <p:cNvSpPr/>
          <p:nvPr/>
        </p:nvSpPr>
        <p:spPr>
          <a:xfrm>
            <a:off x="502920" y="2103120"/>
            <a:ext cx="2084831" cy="914400"/>
          </a:xfrm>
          <a:prstGeom prst="chevron">
            <a:avLst/>
          </a:prstGeom>
          <a:solidFill>
            <a:srgbClr val="1A2230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9202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INGEST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2DD4BF"/>
                </a:solidFill>
                <a:latin typeface="Menlo"/>
              </a:rPr>
              <a:t>OCSF · Redis bus</a:t>
            </a:r>
          </a:p>
        </p:txBody>
      </p:sp>
      <p:sp>
        <p:nvSpPr>
          <p:cNvPr id="7" name="Chevron 6"/>
          <p:cNvSpPr/>
          <p:nvPr/>
        </p:nvSpPr>
        <p:spPr>
          <a:xfrm>
            <a:off x="2633472" y="2103120"/>
            <a:ext cx="2084831" cy="914400"/>
          </a:xfrm>
          <a:prstGeom prst="chevron">
            <a:avLst/>
          </a:prstGeom>
          <a:solidFill>
            <a:srgbClr val="1A2230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33472" y="2249424"/>
            <a:ext cx="19202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DETECT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2DD4BF"/>
                </a:solidFill>
                <a:latin typeface="Menlo"/>
              </a:rPr>
              <a:t>IForest+ECOD</a:t>
            </a:r>
          </a:p>
        </p:txBody>
      </p:sp>
      <p:sp>
        <p:nvSpPr>
          <p:cNvPr id="9" name="Chevron 8"/>
          <p:cNvSpPr/>
          <p:nvPr/>
        </p:nvSpPr>
        <p:spPr>
          <a:xfrm>
            <a:off x="4764023" y="2103120"/>
            <a:ext cx="2084831" cy="914400"/>
          </a:xfrm>
          <a:prstGeom prst="chevron">
            <a:avLst/>
          </a:prstGeom>
          <a:solidFill>
            <a:srgbClr val="1A2230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4023" y="2249424"/>
            <a:ext cx="19202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CORRELATE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2DD4BF"/>
                </a:solidFill>
                <a:latin typeface="Menlo"/>
              </a:rPr>
              <a:t>Neo4j graph fusion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6894575" y="2103120"/>
            <a:ext cx="2084831" cy="914400"/>
          </a:xfrm>
          <a:prstGeom prst="chevron">
            <a:avLst/>
          </a:prstGeom>
          <a:solidFill>
            <a:srgbClr val="1A2230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4575" y="2249424"/>
            <a:ext cx="19202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ATTRIBUTE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2DD4BF"/>
                </a:solidFill>
                <a:latin typeface="Menlo"/>
              </a:rPr>
              <a:t>Claude + ATT&amp;CK RAG</a:t>
            </a:r>
          </a:p>
        </p:txBody>
      </p:sp>
      <p:sp>
        <p:nvSpPr>
          <p:cNvPr id="13" name="Chevron 12"/>
          <p:cNvSpPr/>
          <p:nvPr/>
        </p:nvSpPr>
        <p:spPr>
          <a:xfrm>
            <a:off x="9025128" y="2103120"/>
            <a:ext cx="2084831" cy="914400"/>
          </a:xfrm>
          <a:prstGeom prst="chevron">
            <a:avLst/>
          </a:prstGeom>
          <a:solidFill>
            <a:srgbClr val="1A2230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2249424"/>
            <a:ext cx="192023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RESPOND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>
                <a:solidFill>
                  <a:srgbClr val="2DD4BF"/>
                </a:solidFill>
                <a:latin typeface="Menlo"/>
              </a:rPr>
              <a:t>SOAR + gates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11880"/>
            <a:ext cx="10771632" cy="7772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Menlo"/>
              </a:rPr>
              <a:t>🔗  TAMPER-EVIDENT AUDIT LEDGER  </a:t>
            </a:r>
            <a:r>
              <a:rPr sz="1300" b="0">
                <a:solidFill>
                  <a:srgbClr val="94A3B8"/>
                </a:solidFill>
                <a:latin typeface="Helvetica Neue"/>
              </a:rPr>
              <a:t>— every automated action SHA-256 hash-chained, append-only (Postgres)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09160"/>
            <a:ext cx="5257800" cy="132588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892040"/>
            <a:ext cx="4754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DD4BF"/>
                </a:solidFill>
                <a:latin typeface="Menlo"/>
              </a:rPr>
              <a:t>PRESENTATION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2E8F0"/>
                </a:solidFill>
                <a:latin typeface="Helvetica Neue"/>
              </a:rPr>
              <a:t>FastAPI BFF → Next.js SOC analyst console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Helvetica Neue"/>
              </a:rPr>
              <a:t>live incident graph · ATT&amp;CK frame · action queue · audit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16752" y="4709160"/>
            <a:ext cx="5257800" cy="132588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4892040"/>
            <a:ext cx="4754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ACC15"/>
                </a:solidFill>
                <a:latin typeface="Menlo"/>
              </a:rPr>
              <a:t>INTEGRITY GUARDRAIL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2E8F0"/>
                </a:solidFill>
                <a:latin typeface="Helvetica Neue"/>
              </a:rPr>
              <a:t>Ground-truth labels &amp; vendor severity never reach detection or the agents.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Helvetica Neue"/>
              </a:rPr>
              <a:t>Multi-agent: attribution + response-planner.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THE MOAT — GRAPH WEAK-SIGNAL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Weak signals, fused into a kill chain.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19" y="2011680"/>
            <a:ext cx="6995159" cy="12203153"/>
          </a:xfrm>
          <a:prstGeom prst="roundRect">
            <a:avLst>
              <a:gd name="adj" fmla="val 20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sol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6903720" cy="12111714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726679" y="239572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82711" y="228600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Anomaly lift.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Personalized-PageRank recovers weak signals that isolated novelty detection misses.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344728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333756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4 / 4 recovered.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Borderline malicious events pulled into ONE dominant incident.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449884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438912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Lateral movement.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WS03 → DC01 → DB-EXAMS surfaces automatically from the graph.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AGENTIC ATTRIBUTION +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It names the campaign — and the next move.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19" y="2011680"/>
            <a:ext cx="6995159" cy="12203153"/>
          </a:xfrm>
          <a:prstGeom prst="roundRect">
            <a:avLst>
              <a:gd name="adj" fmla="val 20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sole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6903720" cy="12111714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726679" y="239572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82711" y="228600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92.3% accuracy.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MITRE ATT&amp;CK technique mapping · 0 false attributions.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344728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333756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Grounded + live.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RAG over ATT&amp;CK + advisories. Live agent grounds on the real malicious events (mapper: ~2 on insider).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449884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438912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Predictive.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Forecasts T1070 log-wiping &amp; T1486 ransomware before they happen.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AUTONOMOUS RESPONSE + HUMAN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Contain in milliseconds. Escalate what matters.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19" y="2011680"/>
            <a:ext cx="6995159" cy="10903672"/>
          </a:xfrm>
          <a:prstGeom prst="roundRect">
            <a:avLst>
              <a:gd name="adj" fmla="val 20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play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57400"/>
            <a:ext cx="6903720" cy="1081223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726679" y="239572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82711" y="228600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75% autonomous.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Reversible, low-impact containment fires on its own.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3447287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1" y="333756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Gate is platform-enforced.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The model proposes; Prahari decides the gate — AI can never weaken it.</a:t>
            </a:r>
          </a:p>
        </p:txBody>
      </p:sp>
      <p:sp>
        <p:nvSpPr>
          <p:cNvPr id="11" name="Oval 10"/>
          <p:cNvSpPr/>
          <p:nvPr/>
        </p:nvSpPr>
        <p:spPr>
          <a:xfrm>
            <a:off x="7726679" y="449884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4389120"/>
            <a:ext cx="3767328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Human-in-the-loop.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Isolating the exam DB &amp; disabling the admin need one-click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AUDITABILITY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Nothing happens in the dark.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7040880" cy="475488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68296"/>
            <a:ext cx="67665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enlo"/>
              </a:rPr>
              <a:t> 01  </a:t>
            </a:r>
            <a:r>
              <a:rPr sz="1100" b="0">
                <a:solidFill>
                  <a:srgbClr val="94A3B8"/>
                </a:solidFill>
                <a:latin typeface="Menlo"/>
              </a:rPr>
              <a:t>prahari.detector  </a:t>
            </a:r>
            <a:r>
              <a:rPr sz="1150" b="1">
                <a:solidFill>
                  <a:srgbClr val="E2E8F0"/>
                </a:solidFill>
                <a:latin typeface="Menlo"/>
              </a:rPr>
              <a:t>DETECT        </a:t>
            </a:r>
            <a:r>
              <a:rPr sz="1100" b="0">
                <a:solidFill>
                  <a:srgbClr val="94A3B8"/>
                </a:solidFill>
                <a:latin typeface="Menlo"/>
              </a:rPr>
              <a:t>INC-001         </a:t>
            </a:r>
            <a:r>
              <a:rPr sz="1150" b="1">
                <a:solidFill>
                  <a:srgbClr val="34D399"/>
                </a:solidFill>
                <a:latin typeface="Menlo"/>
              </a:rPr>
              <a:t>confirmed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98648"/>
            <a:ext cx="7040880" cy="475488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35224"/>
            <a:ext cx="67665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enlo"/>
              </a:rPr>
              <a:t>...  </a:t>
            </a:r>
            <a:r>
              <a:rPr sz="1100" b="0">
                <a:solidFill>
                  <a:srgbClr val="94A3B8"/>
                </a:solidFill>
                <a:latin typeface="Menlo"/>
              </a:rPr>
              <a:t>prahari.soar      </a:t>
            </a:r>
            <a:r>
              <a:rPr sz="1150" b="1">
                <a:solidFill>
                  <a:srgbClr val="E2E8F0"/>
                </a:solidFill>
                <a:latin typeface="Menlo"/>
              </a:rPr>
              <a:t>block_ip      </a:t>
            </a:r>
            <a:r>
              <a:rPr sz="1100" b="0">
                <a:solidFill>
                  <a:srgbClr val="94A3B8"/>
                </a:solidFill>
                <a:latin typeface="Menlo"/>
              </a:rPr>
              <a:t>203.0.113.66    </a:t>
            </a:r>
            <a:r>
              <a:rPr sz="1150" b="1">
                <a:solidFill>
                  <a:srgbClr val="2DD4BF"/>
                </a:solidFill>
                <a:latin typeface="Menlo"/>
              </a:rPr>
              <a:t>auto-executed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65576"/>
            <a:ext cx="7040880" cy="475488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502152"/>
            <a:ext cx="67665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enlo"/>
              </a:rPr>
              <a:t> 09  </a:t>
            </a:r>
            <a:r>
              <a:rPr sz="1100" b="0">
                <a:solidFill>
                  <a:srgbClr val="94A3B8"/>
                </a:solidFill>
                <a:latin typeface="Menlo"/>
              </a:rPr>
              <a:t>prahari.soar      </a:t>
            </a:r>
            <a:r>
              <a:rPr sz="1150" b="1">
                <a:solidFill>
                  <a:srgbClr val="E2E8F0"/>
                </a:solidFill>
                <a:latin typeface="Menlo"/>
              </a:rPr>
              <a:t>isolate_host  </a:t>
            </a:r>
            <a:r>
              <a:rPr sz="1100" b="0">
                <a:solidFill>
                  <a:srgbClr val="94A3B8"/>
                </a:solidFill>
                <a:latin typeface="Menlo"/>
              </a:rPr>
              <a:t>DB-EXAMS        </a:t>
            </a:r>
            <a:r>
              <a:rPr sz="1150" b="1">
                <a:solidFill>
                  <a:srgbClr val="2DD4BF"/>
                </a:solidFill>
                <a:latin typeface="Menlo"/>
              </a:rPr>
              <a:t>gated-approved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32504"/>
            <a:ext cx="7040880" cy="475488"/>
          </a:xfrm>
          <a:prstGeom prst="roundRect">
            <a:avLst>
              <a:gd name="adj" fmla="val 4500"/>
            </a:avLst>
          </a:prstGeom>
          <a:solidFill>
            <a:srgbClr val="1A2230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69080"/>
            <a:ext cx="67665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Menlo"/>
              </a:rPr>
              <a:t> 10  </a:t>
            </a:r>
            <a:r>
              <a:rPr sz="1100" b="0">
                <a:solidFill>
                  <a:srgbClr val="94A3B8"/>
                </a:solidFill>
                <a:latin typeface="Menlo"/>
              </a:rPr>
              <a:t>prahari.soar      </a:t>
            </a:r>
            <a:r>
              <a:rPr sz="1150" b="1">
                <a:solidFill>
                  <a:srgbClr val="E2E8F0"/>
                </a:solidFill>
                <a:latin typeface="Menlo"/>
              </a:rPr>
              <a:t>disable_user  </a:t>
            </a:r>
            <a:r>
              <a:rPr sz="1100" b="0">
                <a:solidFill>
                  <a:srgbClr val="94A3B8"/>
                </a:solidFill>
                <a:latin typeface="Menlo"/>
              </a:rPr>
              <a:t>intern.account  </a:t>
            </a:r>
            <a:r>
              <a:rPr sz="1150" b="1">
                <a:solidFill>
                  <a:srgbClr val="EF4444"/>
                </a:solidFill>
                <a:latin typeface="Menlo"/>
              </a:rPr>
              <a:t>✗ BROKEN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0" y="253288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9871" y="2423160"/>
            <a:ext cx="358444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SHA-256 chained.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Each entry hashes the previous — a verifiable history.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0" y="349300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19871" y="3383280"/>
            <a:ext cx="358444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Append-only.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A DB trigger blocks UPDATE / DELETE outright.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0" y="4453128"/>
            <a:ext cx="100584" cy="100584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1" y="4343400"/>
            <a:ext cx="358444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E2E8F0"/>
                </a:solidFill>
                <a:latin typeface="Helvetica Neue"/>
              </a:rPr>
              <a:t>Tamper-detected.  </a:t>
            </a:r>
            <a:r>
              <a:rPr sz="1450" b="0">
                <a:solidFill>
                  <a:srgbClr val="94A3B8"/>
                </a:solidFill>
                <a:latin typeface="Helvetica Neue"/>
              </a:rPr>
              <a:t>A privileged insider rewrites one row — the chain breaks at the exact entry.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Public benchmark, held-out generalization, OT — measured, not claimed.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29514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DD4BF"/>
                </a:solidFill>
                <a:latin typeface="Menlo"/>
              </a:rPr>
              <a:t>0.845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CIC-IDS-2017 macro ROC · public 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214884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229514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DD4BF"/>
                </a:solidFill>
                <a:latin typeface="Menlo"/>
              </a:rPr>
              <a:t>0.9987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held-out insider · 100% recall @1% FPR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14884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7616" y="229514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DD4BF"/>
                </a:solidFill>
                <a:latin typeface="Menlo"/>
              </a:rPr>
              <a:t>0.895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OT / Modbus ROC · G7 · IT+OT, one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6616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71246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DD4BF"/>
                </a:solidFill>
                <a:latin typeface="Menlo"/>
              </a:rPr>
              <a:t>92.3%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ATT&amp;CK accuracy (mapper) · live agent grounds on malicious events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356616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371246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2DD4BF"/>
                </a:solidFill>
                <a:latin typeface="Menlo"/>
              </a:rPr>
              <a:t>75%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containment autonomous · platform-gated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6448" y="3566160"/>
            <a:ext cx="3611880" cy="123444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3712464"/>
            <a:ext cx="32095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34D399"/>
                </a:solidFill>
                <a:latin typeface="Menlo"/>
              </a:rPr>
              <a:t>1.66 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4A3B8"/>
                </a:solidFill>
                <a:latin typeface="Helvetica Neue"/>
              </a:rPr>
              <a:t>MTTD after foothold · vs ~200-day mean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21808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Helvetica Neue"/>
              </a:rPr>
              <a:t>Contained on day 1.7 — 17 days before the planned exfiltration.   </a:t>
            </a:r>
            <a:r>
              <a:rPr sz="1600" b="1">
                <a:solidFill>
                  <a:srgbClr val="34D399"/>
                </a:solidFill>
                <a:latin typeface="Menlo"/>
              </a:rPr>
              <a:t>BREACH PREVENTED.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SCALABILITY + INDIA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272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Built for NCIIPC-scale reality.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440680" cy="141732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468880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E2E8F0"/>
                </a:solidFill>
                <a:latin typeface="Helvetica Neue"/>
              </a:rPr>
              <a:t>Streaming &amp; containerized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Helvetica Neue"/>
              </a:rPr>
              <a:t>Redis consumer-group fan-out; the whole stack runs on Docker Compose.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2286000"/>
            <a:ext cx="5440680" cy="141732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2286000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E2E8F0"/>
                </a:solidFill>
                <a:latin typeface="Helvetica Neue"/>
              </a:rPr>
              <a:t>IT + OT, one schema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Helvetica Neue"/>
              </a:rPr>
              <a:t>Heterogeneous telemetry normalized to OCSF — endpoints, flows, SCADA.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04487"/>
            <a:ext cx="5440680" cy="141732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04487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4087368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E2E8F0"/>
                </a:solidFill>
                <a:latin typeface="Helvetica Neue"/>
              </a:rPr>
              <a:t>Designed for old infra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Helvetica Neue"/>
              </a:rPr>
              <a:t>Behavioural &amp; agentless-friendly — built for the 70%-end-of-life reality.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904487"/>
            <a:ext cx="5440680" cy="1417320"/>
          </a:xfrm>
          <a:prstGeom prst="roundRect">
            <a:avLst>
              <a:gd name="adj" fmla="val 45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904487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983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E2E8F0"/>
                </a:solidFill>
                <a:latin typeface="Helvetica Neue"/>
              </a:rPr>
              <a:t>CERT-In native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Helvetica Neue"/>
              </a:rPr>
              <a:t>Live advisory ingestion into the attribution RAG.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720840" y="2148840"/>
            <a:ext cx="5029200" cy="7654956"/>
          </a:xfrm>
          <a:prstGeom prst="roundRect">
            <a:avLst>
              <a:gd name="adj" fmla="val 2000"/>
            </a:avLst>
          </a:prstGeom>
          <a:solidFill>
            <a:srgbClr val="121823"/>
          </a:solidFill>
          <a:ln w="9525">
            <a:solidFill>
              <a:srgbClr val="2430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play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2194560"/>
            <a:ext cx="4937760" cy="75635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868680"/>
            <a:ext cx="6035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DD4BF"/>
                </a:solidFill>
                <a:latin typeface="Menlo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52728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2E8F0"/>
                </a:solidFill>
                <a:latin typeface="Helvetica Neue"/>
              </a:rPr>
              <a:t>From detection to a resilience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58521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2DD4BF"/>
                </a:solidFill>
                <a:latin typeface="Helvetica Neue"/>
              </a:rPr>
              <a:t>→  </a:t>
            </a:r>
            <a:r>
              <a:rPr sz="1500" b="1">
                <a:solidFill>
                  <a:srgbClr val="E2E8F0"/>
                </a:solidFill>
                <a:latin typeface="Helvetica Neue"/>
              </a:rPr>
              <a:t>Cyber-resilience digital twin  </a:t>
            </a:r>
            <a:r>
              <a:rPr sz="1300" b="0">
                <a:solidFill>
                  <a:srgbClr val="94A3B8"/>
                </a:solidFill>
                <a:latin typeface="Helvetica Neue"/>
              </a:rPr>
              <a:t>attack-path simulation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2DD4BF"/>
                </a:solidFill>
                <a:latin typeface="Helvetica Neue"/>
              </a:rPr>
              <a:t>→  </a:t>
            </a:r>
            <a:r>
              <a:rPr sz="1500" b="1">
                <a:solidFill>
                  <a:srgbClr val="E2E8F0"/>
                </a:solidFill>
                <a:latin typeface="Helvetica Neue"/>
              </a:rPr>
              <a:t>Live CVE-driven prioritization  </a:t>
            </a:r>
            <a:r>
              <a:rPr sz="1300" b="0">
                <a:solidFill>
                  <a:srgbClr val="94A3B8"/>
                </a:solidFill>
                <a:latin typeface="Helvetica Neue"/>
              </a:rPr>
              <a:t>patch what the threat actually reaches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2DD4BF"/>
                </a:solidFill>
                <a:latin typeface="Helvetica Neue"/>
              </a:rPr>
              <a:t>→  </a:t>
            </a:r>
            <a:r>
              <a:rPr sz="1500" b="1">
                <a:solidFill>
                  <a:srgbClr val="E2E8F0"/>
                </a:solidFill>
                <a:latin typeface="Helvetica Neue"/>
              </a:rPr>
              <a:t>Multi-tenant for state CERTs  </a:t>
            </a:r>
            <a:r>
              <a:rPr sz="1300" b="0">
                <a:solidFill>
                  <a:srgbClr val="94A3B8"/>
                </a:solidFill>
                <a:latin typeface="Helvetica Neue"/>
              </a:rPr>
              <a:t>one platform, many institutions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00600"/>
            <a:ext cx="5943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E2E8F0"/>
                </a:solidFill>
                <a:latin typeface="Helvetica Neue"/>
              </a:rPr>
              <a:t>See the attack while it’s still a whisper.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E2E8F0"/>
                </a:solidFill>
                <a:latin typeface="Helvetica Neue"/>
              </a:rPr>
              <a:t>PRAHAR</a:t>
            </a:r>
            <a:r>
              <a:rPr sz="1500" b="1">
                <a:solidFill>
                  <a:srgbClr val="FF9933"/>
                </a:solidFill>
                <a:latin typeface="Helvetica Neue"/>
              </a:rPr>
              <a:t>Í</a:t>
            </a:r>
            <a:r>
              <a:rPr sz="1100" b="0">
                <a:solidFill>
                  <a:srgbClr val="64748B"/>
                </a:solidFill>
                <a:latin typeface="Menlo"/>
              </a:rPr>
              <a:t>   ·  Innovation · Impact · Technical · Scalability · UX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5488"/>
            <a:ext cx="384048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37376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Helvetica Neue"/>
              </a:rPr>
              <a:t>PRAHAR</a:t>
            </a:r>
            <a:r>
              <a:rPr sz="1000" b="1">
                <a:solidFill>
                  <a:srgbClr val="FF9933"/>
                </a:solidFill>
                <a:latin typeface="Helvetica Neue"/>
              </a:rPr>
              <a:t>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37376"/>
            <a:ext cx="1417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Menlo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